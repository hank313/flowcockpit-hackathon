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fab288f5f452e" /><Relationship Type="http://schemas.openxmlformats.org/officeDocument/2006/relationships/extended-properties" Target="/docProps/app.xml" Id="Radd540072ef7481b" /><Relationship Type="http://schemas.openxmlformats.org/officeDocument/2006/relationships/officeDocument" Target="/ppt/presentation.xml" Id="R9637be43889c42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aecf82b104415"/>
  </p:sldMasterIdLst>
  <p:notesMasterIdLst>
    <p:notesMasterId xmlns:r="http://schemas.openxmlformats.org/officeDocument/2006/relationships" r:id="R436a0a2cb894409d"/>
  </p:notesMasterIdLst>
  <p:sldIdLst>
    <p:sldId xmlns:r="http://schemas.openxmlformats.org/officeDocument/2006/relationships" id="256" r:id="R8b4aa9d8fc414ae4"/>
    <p:sldId xmlns:r="http://schemas.openxmlformats.org/officeDocument/2006/relationships" id="257" r:id="R14390231e9c34b2b"/>
    <p:sldId xmlns:r="http://schemas.openxmlformats.org/officeDocument/2006/relationships" id="258" r:id="Ree87a76a087d45db"/>
    <p:sldId xmlns:r="http://schemas.openxmlformats.org/officeDocument/2006/relationships" id="259" r:id="R21851eab78654d22"/>
    <p:sldId xmlns:r="http://schemas.openxmlformats.org/officeDocument/2006/relationships" id="260" r:id="Rc4aa0650a93d482a"/>
    <p:sldId xmlns:r="http://schemas.openxmlformats.org/officeDocument/2006/relationships" id="261" r:id="Rbc082962c1bc4365"/>
    <p:sldId xmlns:r="http://schemas.openxmlformats.org/officeDocument/2006/relationships" id="262" r:id="R523bc7e06c444311"/>
    <p:sldId xmlns:r="http://schemas.openxmlformats.org/officeDocument/2006/relationships" id="263" r:id="Rbf6849bb98e64c77"/>
    <p:sldId xmlns:r="http://schemas.openxmlformats.org/officeDocument/2006/relationships" id="264" r:id="Re6516157aeb74061"/>
    <p:sldId xmlns:r="http://schemas.openxmlformats.org/officeDocument/2006/relationships" id="265" r:id="R7349b2813e8346ba"/>
    <p:sldId xmlns:r="http://schemas.openxmlformats.org/officeDocument/2006/relationships" id="266" r:id="R1bfbc2b284b8477a"/>
    <p:sldId xmlns:r="http://schemas.openxmlformats.org/officeDocument/2006/relationships" id="267" r:id="Re034cf8dac654b48"/>
    <p:sldId xmlns:r="http://schemas.openxmlformats.org/officeDocument/2006/relationships" id="268" r:id="R68bc6c3df8e54d81"/>
    <p:sldId xmlns:r="http://schemas.openxmlformats.org/officeDocument/2006/relationships" id="269" r:id="R9bc09c92b5eb430d"/>
    <p:sldId xmlns:r="http://schemas.openxmlformats.org/officeDocument/2006/relationships" id="270" r:id="Rf3f428d166c748ec"/>
    <p:sldId xmlns:r="http://schemas.openxmlformats.org/officeDocument/2006/relationships" id="271" r:id="R458b25c9760e49bc"/>
    <p:sldId xmlns:r="http://schemas.openxmlformats.org/officeDocument/2006/relationships" id="272" r:id="R29b7285ffc044a54"/>
    <p:sldId xmlns:r="http://schemas.openxmlformats.org/officeDocument/2006/relationships" id="273" r:id="R567f8238be274e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7e703b5f8b4dff" /><Relationship Type="http://schemas.openxmlformats.org/officeDocument/2006/relationships/slideMaster" Target="/ppt/slideMasters/slideMaster1.xml" Id="Rbc9aecf82b104415" /><Relationship Type="http://schemas.openxmlformats.org/officeDocument/2006/relationships/notesMaster" Target="/ppt/notesMasters/notesMaster1.xml" Id="R436a0a2cb894409d" /><Relationship Type="http://schemas.openxmlformats.org/officeDocument/2006/relationships/presProps" Target="/ppt/presProps.xml" Id="Rc04ad5304109484c" /><Relationship Type="http://schemas.openxmlformats.org/officeDocument/2006/relationships/tableStyles" Target="/ppt/tableStyles.xml" Id="Rab061139385b4b16" /><Relationship Type="http://schemas.openxmlformats.org/officeDocument/2006/relationships/slide" Target="/ppt/slides/slide1.xml" Id="R8b4aa9d8fc414ae4" /><Relationship Type="http://schemas.openxmlformats.org/officeDocument/2006/relationships/slide" Target="/ppt/slides/slide2.xml" Id="R14390231e9c34b2b" /><Relationship Type="http://schemas.openxmlformats.org/officeDocument/2006/relationships/slide" Target="/ppt/slides/slide3.xml" Id="Ree87a76a087d45db" /><Relationship Type="http://schemas.openxmlformats.org/officeDocument/2006/relationships/slide" Target="/ppt/slides/slide4.xml" Id="R21851eab78654d22" /><Relationship Type="http://schemas.openxmlformats.org/officeDocument/2006/relationships/slide" Target="/ppt/slides/slide5.xml" Id="Rc4aa0650a93d482a" /><Relationship Type="http://schemas.openxmlformats.org/officeDocument/2006/relationships/slide" Target="/ppt/slides/slide6.xml" Id="Rbc082962c1bc4365" /><Relationship Type="http://schemas.openxmlformats.org/officeDocument/2006/relationships/slide" Target="/ppt/slides/slide7.xml" Id="R523bc7e06c444311" /><Relationship Type="http://schemas.openxmlformats.org/officeDocument/2006/relationships/slide" Target="/ppt/slides/slide8.xml" Id="Rbf6849bb98e64c77" /><Relationship Type="http://schemas.openxmlformats.org/officeDocument/2006/relationships/slide" Target="/ppt/slides/slide9.xml" Id="Re6516157aeb74061" /><Relationship Type="http://schemas.openxmlformats.org/officeDocument/2006/relationships/slide" Target="/ppt/slides/slide10.xml" Id="R7349b2813e8346ba" /><Relationship Type="http://schemas.openxmlformats.org/officeDocument/2006/relationships/slide" Target="/ppt/slides/slide11.xml" Id="R1bfbc2b284b8477a" /><Relationship Type="http://schemas.openxmlformats.org/officeDocument/2006/relationships/slide" Target="/ppt/slides/slide12.xml" Id="Re034cf8dac654b48" /><Relationship Type="http://schemas.openxmlformats.org/officeDocument/2006/relationships/slide" Target="/ppt/slides/slide13.xml" Id="R68bc6c3df8e54d81" /><Relationship Type="http://schemas.openxmlformats.org/officeDocument/2006/relationships/slide" Target="/ppt/slides/slide14.xml" Id="R9bc09c92b5eb430d" /><Relationship Type="http://schemas.openxmlformats.org/officeDocument/2006/relationships/slide" Target="/ppt/slides/slide15.xml" Id="Rf3f428d166c748ec" /><Relationship Type="http://schemas.openxmlformats.org/officeDocument/2006/relationships/slide" Target="/ppt/slides/slide16.xml" Id="R458b25c9760e49bc" /><Relationship Type="http://schemas.openxmlformats.org/officeDocument/2006/relationships/slide" Target="/ppt/slides/slide17.xml" Id="R29b7285ffc044a54" /><Relationship Type="http://schemas.openxmlformats.org/officeDocument/2006/relationships/slide" Target="/ppt/slides/slide18.xml" Id="R567f8238be274e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fed67259794b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022f7e10254520" /><Relationship Type="http://schemas.openxmlformats.org/officeDocument/2006/relationships/notesMaster" Target="/ppt/notesMasters/notesMaster1.xml" Id="R419226e3bb62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8fea0c4df4d99" /><Relationship Type="http://schemas.openxmlformats.org/officeDocument/2006/relationships/notesMaster" Target="/ppt/notesMasters/notesMaster1.xml" Id="R3d1bb1a7795d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4e1565ba7e4746" /><Relationship Type="http://schemas.openxmlformats.org/officeDocument/2006/relationships/notesMaster" Target="/ppt/notesMasters/notesMaster1.xml" Id="R4bfd7b0ce1db48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055c5e9a2c4eb7" /><Relationship Type="http://schemas.openxmlformats.org/officeDocument/2006/relationships/notesMaster" Target="/ppt/notesMasters/notesMaster1.xml" Id="Re74bb596dfaa4f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b173f93fb64a89" /><Relationship Type="http://schemas.openxmlformats.org/officeDocument/2006/relationships/notesMaster" Target="/ppt/notesMasters/notesMaster1.xml" Id="R5713038f38284a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192586ad3e4669" /><Relationship Type="http://schemas.openxmlformats.org/officeDocument/2006/relationships/notesMaster" Target="/ppt/notesMasters/notesMaster1.xml" Id="Ra53df4c00e324e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9bda7f44784074" /><Relationship Type="http://schemas.openxmlformats.org/officeDocument/2006/relationships/notesMaster" Target="/ppt/notesMasters/notesMaster1.xml" Id="Rf0090d8f510f4a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c73f4d6b4c4fad" /><Relationship Type="http://schemas.openxmlformats.org/officeDocument/2006/relationships/notesMaster" Target="/ppt/notesMasters/notesMaster1.xml" Id="Rb40a030e4b8a40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af84087df3401f" /><Relationship Type="http://schemas.openxmlformats.org/officeDocument/2006/relationships/notesMaster" Target="/ppt/notesMasters/notesMaster1.xml" Id="R42a8cb087a904f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60a0932bf44956" /><Relationship Type="http://schemas.openxmlformats.org/officeDocument/2006/relationships/notesMaster" Target="/ppt/notesMasters/notesMaster1.xml" Id="Ra0609695b8ef4f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655fab535c471e" /><Relationship Type="http://schemas.openxmlformats.org/officeDocument/2006/relationships/notesMaster" Target="/ppt/notesMasters/notesMaster1.xml" Id="R6fa3409d5fd245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3571ef33284fe3" /><Relationship Type="http://schemas.openxmlformats.org/officeDocument/2006/relationships/notesMaster" Target="/ppt/notesMasters/notesMaster1.xml" Id="R8acff4755f6447b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09ac42b99f40a2" /><Relationship Type="http://schemas.openxmlformats.org/officeDocument/2006/relationships/notesMaster" Target="/ppt/notesMasters/notesMaster1.xml" Id="R60efffaf2fd944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31acce5f89408c" /><Relationship Type="http://schemas.openxmlformats.org/officeDocument/2006/relationships/notesMaster" Target="/ppt/notesMasters/notesMaster1.xml" Id="R01e1db3180a244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11101518af4b9a" /><Relationship Type="http://schemas.openxmlformats.org/officeDocument/2006/relationships/notesMaster" Target="/ppt/notesMasters/notesMaster1.xml" Id="R3674a2d597374d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4e2a28707e4980" /><Relationship Type="http://schemas.openxmlformats.org/officeDocument/2006/relationships/notesMaster" Target="/ppt/notesMasters/notesMaster1.xml" Id="R5cf79694b69e4c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5427e40fea84cf9" /><Relationship Type="http://schemas.openxmlformats.org/officeDocument/2006/relationships/notesMaster" Target="/ppt/notesMasters/notesMaster1.xml" Id="Rf810760afa754f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105520a651480d" /><Relationship Type="http://schemas.openxmlformats.org/officeDocument/2006/relationships/notesMaster" Target="/ppt/notesMasters/notesMaster1.xml" Id="R8260fa4e11f9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我們希望座艙助理能把自然需求轉成可操作的介面，並記住尚未完成的任務。隨境座艙以離線優先的混合式 AI，讓使用者從說出需求，一路走到確認選擇。這份簡報是提案規劃，尚未宣稱完成原型。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正式送件時，請用實際成員姓名和各自完成的作品替換待填欄位。分工可以兼任，但每位成員的責任與可驗證經驗應具體。不要以尚未完成的能力或成果當作團隊優勢。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本提案以途中挑選休息地點為首個情境。使用者以自然語言提出需求，Android 顯示可修正的條件和候選。系統保存任務狀態，操作中斷或外部網路中斷後仍可繼續。模型與功能目前為規劃。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我們先驗證一個具體場景：旅途中挑選休息地點。希望改善的不是資訊量，而是把需求輸入、修改與中斷後恢復串成完整體驗。這些痛點目前是設計假設，後續以小規模使用者試測確認。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示範從新的語音輸入開始。本地模型理解條件後，系統精確查詢資料，呈現候選。使用者可說留下第二個，任務狀態保存的是候選 ID。連網後可以針對同一批資料進行較複雜比較。最終完成的是模擬導航目的地的設定，不宣稱真實導航。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生成式介面並非讓模型任意產生可執行程式碼。我們提供固定的 Compose 元件，由結構化輸出決定內容與適用元件；App 驗證資料後才呈現。AI 負責語意理解，查詢、狀態保存及確認動作由可測試的程式邏輯負責。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結構化介面設計參考：https://github.com/a2ui-project/a2ui 。本提案採自訂 JSON，不宣稱整合 A2UI SDK。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原型以 x86 筆電或桌機作為 AI Box。標準 Android HMI 透過 Ethernet 存取本地服務，AI Box 再選擇性呼叫雲端。圖示箭頭表示資料流程；實際兩側皆有請求與回應。車輛行駛狀態先用獨立適配介面模擬，未來接 AAOS 或 CDC 仍需要平台整合和權限驗證。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Hybrid 的驗收不能只是保留舊答案。斷網冷啟動後，要能接受全新需求、修改並完成確認。本地模型與資源預先部署。連網後的新增價值是較複雜的比較與理由，而不是假裝有即時資訊。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保存聊天紀錄並不足以保證操作可以繼續。我們保存具體候選 ID、條件、選擇及下一步。每次更新提高版本，雲端結果回來時檢查是否仍對應目前任務。這是防止網路延遲導致畫面或選擇倒退的設計。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多螢幕的價值是資訊分工。相同任務可在駕駛側呈現簡潔摘要，在乘客側保留詳細比較。這是延伸規劃，首版先確保單一 App 的完整流程。原型以模擬行駛狀態切換，尚未進行真車駕駛測試或宣稱安全成效。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現場以評審變更條件來證明並非固定動畫。斷網示範只關閉對外連線，Android 與 AI Box 的 LAN 要保持。另準備無外網冷啟動測試，排除只顯示快取的情況。若設備故障，備援影片可說明功能，但不能取代可操作 Demo。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AUO 的公開展示已涵蓋語音、手勢、智慧窗與按需顯示。因此我們不把語音控制或多螢幕本身當作首創，而是聚焦可見條件、結構化任務保存和離線雲端接續的組合。其價值將與選單操作基準做使用者測試。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AUO CES 2026 官方介紹：https://www.auo.com/zh-TW/News_Archive/detail/News_Archive_Product_20260107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先進行少量參與者的可用性試測，記錄樣本數、語句、設備和測試條件。期待的效益包括減少重複輸入與縮短恢復時間，但本提案不預設改善百分比。技術完成度、UX 和創新都需要可檢驗的證據支持。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 實作組：創新性 25%、技術完成／可行度 35%、UX/UI 20%、商業可行性 10%、Pitch 10%。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我們依可驗收成果安排開發，而非堆疊大量功能。先完成觸控基底，再逐步替換成 AI 輸入，接著補上持久化與網路可靠度。模型量化與非思考模式須依中文測試和設備延遲決定，不能在未量測前保證效能。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商業模式是向車廠與座艙供應商提供可整合軟體模組的假設，尚無合作承諾或營收數字。先以單一任務 PoC 檢驗價值，再評估更複雜情境。標準 Android 和獨立資料介面可以降低移植耦合，但不等於已完成 AAOS 或 CDC 移植。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首版使用預訓練模型推論，不規劃模型微調。版本與模型檔應在完成測試後固定並據實填入附件三。商用 API 需依使用條款管理；不能把雲端模型當成本地模型。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https://github.com/openai/whisper</a:t>
            </a:r>
          </a:p>
          <a:p xmlns:a="http://schemas.openxmlformats.org/drawingml/2006/main">
            <a:r>
              <a:t>https://github.com/ggml-org/whisper.cpp</a:t>
            </a:r>
          </a:p>
          <a:p xmlns:a="http://schemas.openxmlformats.org/drawingml/2006/main">
            <a:r>
              <a:t>https://huggingface.co/Qwen/Qwen3-1.7B</a:t>
            </a:r>
          </a:p>
          <a:p xmlns:a="http://schemas.openxmlformats.org/drawingml/2006/main">
            <a:r>
              <a:t>https://github.com/ggml-org/llama.cpp</a:t>
            </a:r>
          </a:p>
          <a:p xmlns:a="http://schemas.openxmlformats.org/drawingml/2006/main">
            <a:r>
              <a:t>https://platform.claude.com/docs/en/models/overview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正式附件三還需要團隊名稱、供應商、完整框架版本、第三方 API、授權、資料素材、公開展示與商業用途範圍、既有與新增工作及隊長聲明。本頁是摘要，不能取代正式表格。資料和語音目前待建立。簡報已移除生成式圖片，後續 UI 素材依實際使用情形揭露來源。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資料來源／說明：</a:t>
            </a:r>
          </a:p>
          <a:p xmlns:a="http://schemas.openxmlformats.org/drawingml/2006/main">
            <a:r>
              <a:t>競賽依據：2026_AI_座艙感知與視覺化_Hackathon_競賽簡章_V10.pdf，實作組要求、初審簡報模板、評分標準及附件三。</a:t>
            </a:r>
          </a:p>
          <a:p xmlns:a="http://schemas.openxmlformats.org/drawingml/2006/main">
            <a:r>
              <a:t>參考概念：https://github.com/a2ui-project/a2ui（未列為已整合依賴）。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結語：隨境座艙讓需求成為介面，讓任務在中斷和網路變化後繼續。三分鐘提案影片建議：0–20 秒團隊與問題，20–80 秒本地輸入與修改，80–120 秒中斷、斷網與恢復，120–150 秒雲端比較與確認，150–180 秒架構、差異化與驗證。影片只保留重點，不逐頁念完十八頁。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29137b32b14d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642f0d64db4341" /><Relationship Type="http://schemas.openxmlformats.org/officeDocument/2006/relationships/slideLayout" Target="/ppt/slideLayouts/slideLayout1.xml" Id="R5895cd9247894d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5cd9247894d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2b8697bbe4094" /><Relationship Type="http://schemas.openxmlformats.org/officeDocument/2006/relationships/notesSlide" Target="/ppt/notesSlides/notesSlide1.xml" Id="R30b2e95d3b03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a1efd82e54a7d" /><Relationship Type="http://schemas.openxmlformats.org/officeDocument/2006/relationships/notesSlide" Target="/ppt/notesSlides/notesSlide2.xml" Id="R5054ea0a95df4a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c36b50b684cd7" /><Relationship Type="http://schemas.openxmlformats.org/officeDocument/2006/relationships/notesSlide" Target="/ppt/notesSlides/notesSlide3.xml" Id="R547903acb017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574d4f46e40a8" /><Relationship Type="http://schemas.openxmlformats.org/officeDocument/2006/relationships/notesSlide" Target="/ppt/notesSlides/notesSlide4.xml" Id="R568ee392ca534f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27fab68a486b" /><Relationship Type="http://schemas.openxmlformats.org/officeDocument/2006/relationships/notesSlide" Target="/ppt/notesSlides/notesSlide5.xml" Id="R156168a57c21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49f4068f14d1a" /><Relationship Type="http://schemas.openxmlformats.org/officeDocument/2006/relationships/notesSlide" Target="/ppt/notesSlides/notesSlide6.xml" Id="Rf0aef8b254b3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28e8571e345c6" /><Relationship Type="http://schemas.openxmlformats.org/officeDocument/2006/relationships/notesSlide" Target="/ppt/notesSlides/notesSlide7.xml" Id="R0113c60c997445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65c25252e4aef" /><Relationship Type="http://schemas.openxmlformats.org/officeDocument/2006/relationships/notesSlide" Target="/ppt/notesSlides/notesSlide8.xml" Id="Rcb95a1e2166345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dd1f8676c4fba" /><Relationship Type="http://schemas.openxmlformats.org/officeDocument/2006/relationships/notesSlide" Target="/ppt/notesSlides/notesSlide9.xml" Id="R089a7b810ea34e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35519a8e24941" /><Relationship Type="http://schemas.openxmlformats.org/officeDocument/2006/relationships/notesSlide" Target="/ppt/notesSlides/notesSlide10.xml" Id="R9a473c8b46ff4e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61510237242bc" /><Relationship Type="http://schemas.openxmlformats.org/officeDocument/2006/relationships/notesSlide" Target="/ppt/notesSlides/notesSlide11.xml" Id="Rfdf0c31ae78548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18b48d2944804" /><Relationship Type="http://schemas.openxmlformats.org/officeDocument/2006/relationships/notesSlide" Target="/ppt/notesSlides/notesSlide12.xml" Id="R815f76ac99514d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f041a616e4541" /><Relationship Type="http://schemas.openxmlformats.org/officeDocument/2006/relationships/notesSlide" Target="/ppt/notesSlides/notesSlide13.xml" Id="R95d02af3f35942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e80269ff1479d" /><Relationship Type="http://schemas.openxmlformats.org/officeDocument/2006/relationships/notesSlide" Target="/ppt/notesSlides/notesSlide14.xml" Id="Rac0edcdbfb8b45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59bb391dd4c89" /><Relationship Type="http://schemas.openxmlformats.org/officeDocument/2006/relationships/notesSlide" Target="/ppt/notesSlides/notesSlide15.xml" Id="R7cb7a8de16be4e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7c4f2642a4802" /><Relationship Type="http://schemas.openxmlformats.org/officeDocument/2006/relationships/notesSlide" Target="/ppt/notesSlides/notesSlide16.xml" Id="R55f15eab0c0244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4674f2c54078" /><Relationship Type="http://schemas.openxmlformats.org/officeDocument/2006/relationships/notesSlide" Target="/ppt/notesSlides/notesSlide17.xml" Id="Re7453ff70ebf4c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1de4aa2da41e6" /><Relationship Type="http://schemas.openxmlformats.org/officeDocument/2006/relationships/notesSlide" Target="/ppt/notesSlides/notesSlide18.xml" Id="R5b26a9ca439b4f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4A952-018C-468B-BFDF-1F4602FB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2026 AI 座艙感知與視覺化 Hackathon  ·  實作組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AEDDF-E12E-4B29-A6C4-C5846076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6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隨境座艙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58CE8-4AB2-40E3-81BF-2A8A00D2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4800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FlowCockpit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BA4DF-F241-4C52-A3F3-10A00E14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7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讓需求成為介面，讓任務接續完成。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FB77A-53E4-40A0-988B-3AC6986D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BD1D8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BBD1D8"/>
                </a:solidFill>
                <a:latin typeface="Noto Sans TC"/>
                <a:ea typeface="Noto Sans TC"/>
                <a:cs typeface="Noto Sans TC"/>
              </a:rPr>
              <a:t>具任務接續能力之 Hybrid AI 生成式人機介面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9E3D8-A990-40C4-9FB1-94241912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ECF18-D2EB-49B8-8261-C6D3D033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Offline First  /  Cloud Enhanced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3A9FB-EBC7-442D-A49E-24A8C89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340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BD1D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BBD1D8"/>
                </a:solidFill>
                <a:latin typeface="Noto Sans TC"/>
                <a:ea typeface="Noto Sans TC"/>
                <a:cs typeface="Noto Sans TC"/>
              </a:rPr>
              <a:t>提案規劃版  ·  2026.09.28</a:t>
            </a:r>
          </a:p>
        </p:txBody>
      </p:sp>
    </p:spTree>
    <p:extLst>
      <p:ext uri="{BB962C8B-B14F-4D97-AF65-F5344CB8AC3E}">
        <p14:creationId xmlns:p14="http://schemas.microsoft.com/office/powerpoint/2010/main" val="1139477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A6FDB-5B3C-4AEC-86E3-1D55D672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01  團隊背景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5D641-B7E9-416B-8A64-3B6F86F3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以 AI、HMI 與系統整合完成一個任務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E5743-8AEE-4F42-89F5-C088A77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團隊名稱／成員姓名／作品經驗待填；下列為建議分工，可依人數兼任。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AF2F6-9FE4-4528-9A99-78A2C1C5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07AA8-CF27-4904-9934-1ED316E2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6DEA6-DAF5-4CF5-A19B-0E53E5BA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524500"/>
                <a:gridCol w="3190875"/>
              </a:tblGrid>
              <a:tr h="833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工作主軸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本次負責內容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成員與經驗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Android HMI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Compose 介面、互動流程、網路回饋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姓名待填</a:t>
                      </a:r>
                    </a:p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相關作品待填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AI 與後端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本地推論、雲端比較、格式驗證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姓名待填</a:t>
                      </a:r>
                    </a:p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相關作品待填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整合與驗證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任務狀態、斷網測試、現場展示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姓名待填</a:t>
                      </a:r>
                    </a:p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相關作品待填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EC61F-A809-473C-89C1-7E79C8FC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共同交付：可操作 Android App ＋ 即時 AI ＋ 現場端到端 Demo</a:t>
            </a:r>
          </a:p>
        </p:txBody>
      </p:sp>
    </p:spTree>
    <p:extLst>
      <p:ext uri="{BB962C8B-B14F-4D97-AF65-F5344CB8AC3E}">
        <p14:creationId xmlns:p14="http://schemas.microsoft.com/office/powerpoint/2010/main" val="32663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77245-C022-4794-B3FA-C0F26F1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02  提案概述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2213E-2F61-4900-9984-EC48E75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支援離線操作與任務接續的座艙助理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3A2FD-8468-4982-8960-C5F9385F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以 Android App 呈現條件與候選，由本地 AI 處理核心操作。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A276-9A90-4D75-AB9F-2185578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5F894-869F-4652-A9A7-D1C4BEC4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81D3C-6B65-46DD-9BFA-095A510A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9C0A6F-B9EE-49E4-BBE3-2DB8D9C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使用情境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5C398-EA30-469D-B7C2-179F381C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途中找休息地點</a:t>
            </a:r>
          </a:p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將「室內、有座位、少走路」</a:t>
            </a:r>
          </a:p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轉為可調整的篩選條件。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B3EEA-9E68-4BF2-A453-40ABFFE4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操作方式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CF6CF-D125-44FB-969A-6D53AE4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4857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1. 說出需求，查看候選</a:t>
            </a:r>
          </a:p>
          <a:p xmlns:a="http://schemas.openxmlformats.org/drawingml/2006/main">
            <a:pPr algn="l">
              <a:def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2. 用語音或觸控修改條件</a:t>
            </a:r>
          </a:p>
          <a:p xmlns:a="http://schemas.openxmlformats.org/drawingml/2006/main">
            <a:pPr algn="l">
              <a:def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3. 中斷後恢復原本進度</a:t>
            </a:r>
          </a:p>
          <a:p xmlns:a="http://schemas.openxmlformats.org/drawingml/2006/main">
            <a:pPr algn="l">
              <a:def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4. 確認選擇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5AB5D-AD0B-4A07-B01B-C2F9FDE6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AC8BE-E6FE-469A-B3C3-4157AC41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斷網時由本地 AI 完成篩選與確認，連網後再提供較複雜的比較說明。</a:t>
            </a:r>
          </a:p>
        </p:txBody>
      </p:sp>
    </p:spTree>
    <p:extLst>
      <p:ext uri="{BB962C8B-B14F-4D97-AF65-F5344CB8AC3E}">
        <p14:creationId xmlns:p14="http://schemas.microsoft.com/office/powerpoint/2010/main" val="1033924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3005D-011E-47B3-A9B7-AB2D789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03  目標對象與痛點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B3EEE-9AA2-4547-B666-90641C5A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旅途中，需求容易說清楚，操作卻容易中斷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41834-3E93-44B3-9DD0-7BE10C9A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目標：停車操作的駕駛，以及協助規劃的乘客。以下痛點為待驗證假設。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F8F77-8E82-4CC6-9BFE-FFC4C3BB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1DE4B-AF2D-4CAF-ADB6-3C85869D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B8F5F-DE93-46D6-9A61-1D993C1B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915AA-F766-4AA1-8C4F-2CFA9E8A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ED814-E462-4672-9A50-52368E7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383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選單難對應自然需求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6BFAD-B6FD-43EA-9445-543AD11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57425"/>
            <a:ext cx="633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「室內、有座位、少走路」需要跨多個條件設定。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7FE85-BC79-43D4-BC96-9EC0CF51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2CF7B-5C1E-4203-B4DB-E5E14C93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8A372-A144-4EFF-A4EC-A7A41B94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718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打斷後要重新回想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22332-81BE-414A-A012-2361DB08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90925"/>
            <a:ext cx="633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剛剛選了誰、留下什麼條件、下一步要做什麼？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CAB73-C13F-4AEA-B71C-09AF6ED6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24D02-1369-4DD1-83C9-6588EFF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9DD9A-9673-4FB2-94A6-F9AB2AD1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053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網路影響任務完成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7B38D4-16FF-461F-A7D6-DB397FA3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24425"/>
            <a:ext cx="633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外部網路不穩時，仍需要修改、保留與確認選擇。</a:t>
            </a:r>
          </a:p>
        </p:txBody>
      </p:sp>
    </p:spTree>
    <p:extLst>
      <p:ext uri="{BB962C8B-B14F-4D97-AF65-F5344CB8AC3E}">
        <p14:creationId xmlns:p14="http://schemas.microsoft.com/office/powerpoint/2010/main" val="1648916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CB4AE-E7E2-4BCC-B655-A80050F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04  解決方案設計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850F4-DF79-4571-8F65-5ADCD12A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一句需求，形成可修改、可接續的選擇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63DC7-861D-4EF2-85E8-436925C9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首個端到端情境：途中挑選休息地點。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F2B24-152B-4833-8B6D-BF47EF15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332C9-E252-487F-AF43-94FA7B88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576BB-A88F-46C7-8162-53FDC71F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B394D-2CE2-4FC5-AB53-3E29C5C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「找個室內、有座位、不用走太遠的地方」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0E35C-DEC5-4332-AD92-1093249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7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28B91-EEAA-49D1-951B-B419DA2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說出需求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82323-5DD9-42C9-B2AF-673552B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顯示 AI 理解的條件</a:t>
            </a:r>
          </a:p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查詢本地示範地點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77BB5-0242-4C94-A699-D81662E1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67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9C355-73ED-4469-8A03-5ADA4399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33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接著修改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98B6D-EE70-41D4-B340-636CFD0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「留下第二個」</a:t>
            </a:r>
          </a:p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候選 ID 與條件同步保存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6ECC7-BD75-4D43-830F-7B65193E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6707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F2472-0C24-4C6D-B9A2-A13AE562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比較並確認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87909-E521-43B8-A118-9F3B2999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連網補充取捨理由</a:t>
            </a:r>
          </a:p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寫入模擬導航目的地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3C1E7-E8E6-4A8A-B6C0-FEBF0A88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0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示範資料：6–10 個自建地點；選擇結果由使用者確認。</a:t>
            </a:r>
          </a:p>
        </p:txBody>
      </p:sp>
    </p:spTree>
    <p:extLst>
      <p:ext uri="{BB962C8B-B14F-4D97-AF65-F5344CB8AC3E}">
        <p14:creationId xmlns:p14="http://schemas.microsoft.com/office/powerpoint/2010/main" val="167195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AAFFB-7FE4-43D8-969E-BDC48795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04  解決方案設計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CBA7C-AE48-4469-9B88-44BFD7ED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AI 生成內容，Android 呈現受控介面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2B9A1-1C48-44E6-9604-09D394EF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首版限制為三類元件；輸出通過 JSON 格式檢查後才更新畫面。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7E776-EFE8-47EA-B8B9-DDC949FE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07997-A4F1-4243-B1A5-26D96A4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D3E53-4922-497D-BE80-22FCEB33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81500"/>
                <a:gridCol w="4476750"/>
              </a:tblGrid>
              <a:tr h="7739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介面元件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呈現什麼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使用者可以做什麼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條件控制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室內／座位／步行距離等條件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看懂 AI 理解，直接修正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候選卡片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候選 ID、資料欄位、保留狀態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留下、排除、替換候選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7739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比較／確認面板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依據、取捨、下一步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要求說明，確認最終選擇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43071-048E-40D1-9DA8-7588E36F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無法理解 → 問清楚    資料缺漏 → 顯示未知    主要控制 → 位置保持穩定</a:t>
            </a:r>
          </a:p>
        </p:txBody>
      </p:sp>
    </p:spTree>
    <p:extLst>
      <p:ext uri="{BB962C8B-B14F-4D97-AF65-F5344CB8AC3E}">
        <p14:creationId xmlns:p14="http://schemas.microsoft.com/office/powerpoint/2010/main" val="766413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905750" y="3381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6"/>
            </a:solidFill>
            <a:headEnd type="triangle" w="sm" len="sm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14750" y="33813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6"/>
            </a:solidFill>
            <a:headEnd type="triangle" w="sm" len="sm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4F2E5-605B-4BA8-B953-974B17E4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04  系統平台架構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6A50D-ABDE-4196-8DC3-5FD9E6F9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本地 AI Box 是核心，雲端提供增強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DF5A8-B8E0-4C54-B7E4-64DEE46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Android HMI ↔ Ethernet ↔ AI Box；切斷外網時保留區域連線。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D8FCF-FBFC-4374-9191-8E09413F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D984C-1C64-4F71-A7B9-700D3F5F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4553C-3443-489A-9F76-9B35B160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4DA89-E7F4-43B3-952E-8822AE86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59A63-E201-4286-A100-888D317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72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Android HMI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D9B0-1BBB-4263-9464-7990562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7241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Kotlin / Compose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語音與觸控輸入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條件、候選與確認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BC559-06D2-48A2-A307-F5C7CEE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33813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49603-D1D6-4B8E-8EF8-CCD21C46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24125"/>
            <a:ext cx="2962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AI Box · x86 PC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85179-3D31-4C5A-A7F0-9E7662B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38475"/>
            <a:ext cx="29622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Whisper + Qwen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查詢 / JSON 驗證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SQLite 任務狀態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BB82F-F6B1-4119-BBB5-90D504FD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33625"/>
            <a:ext cx="29051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30D80-15AB-4FFA-808C-866C7ABD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24125"/>
            <a:ext cx="2486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Cloud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D1670-82C7-4466-816B-1E380C5C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038475"/>
            <a:ext cx="24860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Claude API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多條件比較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取捨說明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A4553-AAEC-4BE1-A034-D6DF5CD7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910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Ethernet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76034-5E38-4CFB-8299-AB72C324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910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Internet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71AA9-A2C6-4A34-83D9-7C328F70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雙向資料：輸入、任務版本、介面內容與操作結果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7C379-9DF4-4730-A45F-D8B7C386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97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Android 14+ / Target SDK 34；車輛狀態由獨立模擬介面提供，後續評估 AAOS / CDC 整合。</a:t>
            </a:r>
          </a:p>
        </p:txBody>
      </p:sp>
    </p:spTree>
    <p:extLst>
      <p:ext uri="{BB962C8B-B14F-4D97-AF65-F5344CB8AC3E}">
        <p14:creationId xmlns:p14="http://schemas.microsoft.com/office/powerpoint/2010/main" val="1488275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469FD-C8EC-4B81-84FB-02BA5B10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05  AI 應用方法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876A7-0428-47B3-8EBB-E68F363C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離線完成核心任務，連網增加比較品質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88C48-99C0-44CD-88B3-5D39B9DC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兩種模式共用同一個任務狀態與資料來源。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9907C-EDF1-4484-9632-DDD95A3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1CA05-9B56-490F-9E9E-38C77F10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0FE74-E146-4B4B-BD68-7350BD2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524375"/>
                <a:gridCol w="4524375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能力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Offline · 本地核心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Cloud · 連網增強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理解需求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中文語音、條件提取、候選指涉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較複雜／含糊的需求分析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提供結果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依本地資料篩選並呈現候選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多條件取捨與理由說明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完成任務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修改、保留、確認、接續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針對目前任務增加比較內容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失去連線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可冷啟動並接受全新輸入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逾時回到本地可用範圍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8EA31-B4E1-4A2C-A33B-4BF71774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首版雲端使用同一批示範資料；即時地圖、營業資訊屬後續功能。</a:t>
            </a:r>
          </a:p>
        </p:txBody>
      </p:sp>
    </p:spTree>
    <p:extLst>
      <p:ext uri="{BB962C8B-B14F-4D97-AF65-F5344CB8AC3E}">
        <p14:creationId xmlns:p14="http://schemas.microsoft.com/office/powerpoint/2010/main" val="19682065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14551-B671-403F-B3B6-00DF41CA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05  任務接續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19FEE-E1C5-4036-A168-2B73EB7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接續的單位，是任務狀態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E812C-6F98-4E2F-A5F8-C1CE0F53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每次操作攜帶 task ID 與版本，連網恢復後仍處理目前的選擇。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BD8B-B700-4E67-8750-AC6D6A7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6B022-A513-49D9-B743-E734D1C6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C908-EFDC-4F13-AC6B-B051E6FA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983DC-10AC-4E4C-933E-3EFF3B0D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571875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7CF08-F268-405B-91E0-F082CBEA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3152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本地任務記錄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812F9-8B67-454F-8F95-75AB7832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315277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條件 filters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候選 candidate IDs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保留／選擇 selection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確認狀態與下一步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任務 ID +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E17E3-3FE1-468B-B081-F91672DB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操作中斷 / 行駛切換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54C0A-8A21-4672-A927-C81863A4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只收合顯示內容，保留任務；</a:t>
            </a:r>
          </a:p>
          <a:p xmlns:a="http://schemas.openxmlformats.org/drawingml/2006/main">
            <a:pPr algn="l">
              <a:def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回到可操作情境時恢復原進度。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4E225-D3F5-4AA0-BC38-28392A8A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481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01BAE-89E3-4858-9D88-A722687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雲端逾時 / 恢復連網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E81AD-3CE1-4F53-9105-A48D9C99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666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依最新版本要求補充；</a:t>
            </a:r>
          </a:p>
          <a:p xmlns:a="http://schemas.openxmlformats.org/drawingml/2006/main">
            <a:pPr algn="l">
              <a:def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丟棄過期回覆，避免覆蓋新選擇。</a:t>
            </a:r>
          </a:p>
        </p:txBody>
      </p:sp>
    </p:spTree>
    <p:extLst>
      <p:ext uri="{BB962C8B-B14F-4D97-AF65-F5344CB8AC3E}">
        <p14:creationId xmlns:p14="http://schemas.microsoft.com/office/powerpoint/2010/main" val="1337032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524750" y="3786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6"/>
            </a:solidFill>
            <a:headEnd type="triangle" w="sm" len="sm"/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10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4000500" y="37861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6"/>
            </a:solidFill>
            <a:headEnd type="triangle" w="sm" len="sm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76F48-0A6E-45A7-97F2-F1A21E45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04  HMI 情境設計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52DC3-CEBA-4BC3-8EFA-5DE2A092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同一任務，依顯示位置調整資訊量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FE75A-6BD3-40A4-BE17-FF67719A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先完成單 App；多螢幕為延伸驗證項目。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FD51D-269A-40D5-BEDF-15E0D5F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D7DB5-44B3-441F-B4F4-FC76AEDF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F019B-3C34-450A-8FA6-ADD05974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F854B-E259-4492-B897-2B89385F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3429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CEC6C-1B3C-47E2-B2AE-10A7DF8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駕駛側 · 摘要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BBDCA-9FE3-4B53-A3D5-FC1558E9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3009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目前任務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已保留的選擇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可稍後恢復的提示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4788E-95E4-4547-9355-0C3AE1BB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B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03023-96C2-4369-8A17-909F2B55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0375"/>
            <a:ext cx="2438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共享任務狀態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E9E1F-0C3E-4477-9F92-1BFB72B1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14725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條件、候選、版本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跨畫面維持一致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49EC3-64E8-4B33-B94B-8F93436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34290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5EB0A-0991-4C7F-B2ED-0E040AB7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14625"/>
            <a:ext cx="300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乘客側 · 詳細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78AE4-5CE7-4404-A80E-773720E5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28975"/>
            <a:ext cx="30099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條件調整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候選資訊與比較</a:t>
            </a:r>
          </a:p>
          <a:p xmlns:a="http://schemas.openxmlformats.org/drawingml/2006/main">
            <a:pPr algn="l">
              <a:def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確認操作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157B0-6A06-4346-8031-5BB1192C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02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行駛狀態下，駕駛側收合詳細比較；停車或乘客情境提供完整操作。</a:t>
            </a:r>
          </a:p>
        </p:txBody>
      </p:sp>
    </p:spTree>
    <p:extLst>
      <p:ext uri="{BB962C8B-B14F-4D97-AF65-F5344CB8AC3E}">
        <p14:creationId xmlns:p14="http://schemas.microsoft.com/office/powerpoint/2010/main" val="5344256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9BF6B-0CD8-464F-881C-4233FB90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04  現場展示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F51C0-C2D3-4477-A7DB-4471B4C9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讓評審改條件，看到即時 AI 與任務接續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28730-B962-41EC-B9BF-D030C4B5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可操作 Demo 驗收腳本；預錄影片只作備援。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A40ED-0C5C-4123-B757-CC6B7DB3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0E281-5134-47C1-9CC9-2050B933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4026D-EBA6-465D-B927-E9D157F9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9CBB2-628B-4EFA-A2CB-DFC01B15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2407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18BF1-8F87-4AA0-AE4A-3BF055CB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431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新輸入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BFCF5-9DAD-4B68-B285-0ED4439D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52650"/>
            <a:ext cx="771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語音提出需求，生成可修改條件與候選。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1C3A4-82E4-4F0D-9200-C19781ED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48F64-5C99-4BC8-841E-D626F044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607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CDBAB-9F47-47C4-A084-C286B11F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改選擇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06DA6-E66E-4FB6-A8FF-87A07AEF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14650"/>
            <a:ext cx="771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「留下第二個，其他換成較近的」；保留候選 ID。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41216-BA71-4260-B2AE-B7D61BA0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9AA63-4580-4EE4-B186-AA5D6A72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4807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B696C-4A82-492E-8060-F34E4937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切斷外網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35CEB-2C52-4140-8FE6-E6DD0199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771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區域網路維持；接受新需求並完成本地修改。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A0CF3-1B49-4D9E-91AA-24FE943B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0B204-04FC-4C12-9F57-FEF62A9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0FCF7-7288-4B03-997D-A01A04C5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恢復連網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865A2-F6DE-4335-8C54-5836D85C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38650"/>
            <a:ext cx="771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要求多條件比較，顯示雲端新增的取捨理由。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73384-61B6-40AF-B7A4-696F7A75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38153-5B14-4FAD-BA66-4F4A5387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72075"/>
            <a:ext cx="552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B2644-CB7A-41CE-8551-7B84E62C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91125"/>
            <a:ext cx="223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完成確認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0F1C3-C1D0-4B59-B663-0E486650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00650"/>
            <a:ext cx="771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保留進度、確認選擇，寫入模擬導航目的地。</a:t>
            </a:r>
          </a:p>
        </p:txBody>
      </p:sp>
    </p:spTree>
    <p:extLst>
      <p:ext uri="{BB962C8B-B14F-4D97-AF65-F5344CB8AC3E}">
        <p14:creationId xmlns:p14="http://schemas.microsoft.com/office/powerpoint/2010/main" val="256321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5DF7C-CEE3-4033-B7E3-2A89144F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06  獨特優勢與差異化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F95FE-5428-435F-8172-3814E090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差異化落在「從理解到完成」的連續體驗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B165A-0558-43A3-82C8-66C8114C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以下為待驗證的差異化設計，不宣稱業界首創。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D6AC6-987B-49AF-BBC8-60CDE45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74BDB-FF31-43FF-A690-D3EF92FB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86F86-3086-4EFE-8528-7BD0552C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FB399-3CFE-43DD-B9DE-96D23B8F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0275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AF019-8A66-4F8C-B727-70DE7165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002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需求可見、可改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5026E-6BA4-4641-9B60-3EEC5CDE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19325"/>
            <a:ext cx="633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AI 理解直接形成條件控制，使用者可修正誤解。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D1E62-91AF-4523-B307-9664016A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4E2A1-E953-4ABF-A84F-0BAEE992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90E76-2FD9-4C19-8966-4C9FDEA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766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中斷後繼續做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D19A4-AFF5-46B8-8E9C-EB2F3E8C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95675"/>
            <a:ext cx="633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保留候選 ID、選擇與下一步，降低重複輸入。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1DA19-F01F-45B2-87F3-195E2C45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62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34860-D8A4-4C2A-B8EB-41A3978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72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A3054-10D5-4D3B-9940-7B1A8EE5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本地與雲端接得上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A73DD-808F-4C48-A186-A8AD12B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72025"/>
            <a:ext cx="6334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雲端依同一任務補充比較，回覆受版本檢查。</a:t>
            </a:r>
          </a:p>
        </p:txBody>
      </p:sp>
    </p:spTree>
    <p:extLst>
      <p:ext uri="{BB962C8B-B14F-4D97-AF65-F5344CB8AC3E}">
        <p14:creationId xmlns:p14="http://schemas.microsoft.com/office/powerpoint/2010/main" val="10272223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CCB59-77FD-4EC3-B9D6-8DB973B8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07  預期效益與驗證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BBBB0-EA42-457C-985C-154E4E7A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用可量測的任務表現，檢驗提案價值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E815C-62E0-4FCF-9CA7-1B0DC261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目前尚無實測結果；以下為原型完成後的測試設計。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E8171-2FE9-4683-8635-D09E2149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D1FF0-CBD7-41C9-9B12-653E13F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B9726-D98B-466C-9B9F-E71BD5D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238625"/>
                <a:gridCol w="4381500"/>
              </a:tblGrid>
              <a:tr h="6381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想驗證什麼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怎麼測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保留哪些證據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AI 理解正確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未出現在提示範例的新說法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正確／錯誤／澄清次數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操作更順暢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同任務比較選單版與 AI 版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時間、點擊數、完成率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回應足夠即時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分段記錄 ASR、LLM、HMI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延遲分布與測試設備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斷網仍可完成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無外網冷啟動與即時改條件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完整輸入到確認紀錄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接續保持一致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切換、逾時、過期回覆測試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狀態版本與確認結果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79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60F8D-2F2A-4DDF-8C07-9DE48033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07  落地評估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9BD4D-A9E6-4F71-B940-F9C5F8C1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先完成一條垂直流程，再擴充情境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AE639-8BDE-4CD7-8E93-BCA41EDA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首版範圍：1 個 App、1 個完整任務、3 類元件、1 項雲端增強。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AD2AC-7012-4A88-87A1-4CE1422E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B90DE-6456-44F5-8BAB-DB4CA47C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F7883-EAFA-465F-8F97-58065C9F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511D-4072-42CE-A9FD-AB3F498D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238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689C-5D91-4185-BE6E-AD7204B9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可操作基底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4C73F-B5C3-461D-B0D7-706664B0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2590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觸控流程、固定元件</a:t>
            </a:r>
          </a:p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自建資料、模擬目的地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37C39-36C7-44F2-81A6-3F5A8A00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71725"/>
            <a:ext cx="238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6B5D6-4ECA-486B-AE44-3010A094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09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本地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B695E-3925-4BF9-B8E5-64E93423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76675"/>
            <a:ext cx="2590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中文語音與意圖</a:t>
            </a:r>
          </a:p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條件修改、候選指涉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44CD1-6141-4B51-A884-4EFB0D8B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71725"/>
            <a:ext cx="238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823C7-E59F-4FB2-A89A-1E7D27D7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可靠接續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FF8F0-4A45-4D5A-8A83-FB64C65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76675"/>
            <a:ext cx="2590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SQLite 狀態保存</a:t>
            </a:r>
          </a:p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斷網冷啟動、版本檢查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D4D79-82C6-4F7A-BC93-41C8346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71725"/>
            <a:ext cx="2381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D6D1E-F0EF-46EC-9481-B4816F9A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09925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展示驗證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7C22F-E745-4544-96FB-1798DCB6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76675"/>
            <a:ext cx="2590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雲端比較、試測</a:t>
            </a:r>
          </a:p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現場操作、備援錄影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14F7D-4D55-4700-BE1E-DDCB64F0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主要風險：中文語音噪音、推論延遲與候選指涉錯誤。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25277-36F6-4506-9E74-E320718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先做分段量測；搭配可修正條件、澄清問題與觸控入口。</a:t>
            </a:r>
          </a:p>
        </p:txBody>
      </p:sp>
    </p:spTree>
    <p:extLst>
      <p:ext uri="{BB962C8B-B14F-4D97-AF65-F5344CB8AC3E}">
        <p14:creationId xmlns:p14="http://schemas.microsoft.com/office/powerpoint/2010/main" val="21182439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0B5FF-930B-48FE-AF5A-FEE6DAA5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07  預期效益與商業方向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1265-F2A4-442C-AE10-676914A6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將任務接續能力做成可整合的 HMI 模組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47F49-39BF-4576-BADA-34139F43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初期客戶假設：座艙供應商與車廠；需透過 PoC 驗證需求。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10851-224F-498B-9958-BC93607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504F3-638B-44A9-ABDB-3C7AE27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0772C-9141-41C6-B9CC-72B48AF4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E8B14-7819-4DD5-A60F-EBE14B43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使用者價值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66CC2-EB31-4724-A044-A606012A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減少重複輸入</a:t>
            </a:r>
          </a:p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理解結果可修正</a:t>
            </a:r>
          </a:p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斷網仍能完成操作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757BE-C21B-41FE-A07F-2FB8B4C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145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企業整合價值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6AEC8-1667-47A5-BD72-683A6678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95625"/>
            <a:ext cx="5572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固定元件與結構化介面</a:t>
            </a:r>
          </a:p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本地／雲端功能分工</a:t>
            </a:r>
          </a:p>
          <a:p xmlns:a="http://schemas.openxmlformats.org/drawingml/2006/main">
            <a:pPr algn="l">
              <a:def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0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任務狀態可供多顯示端使用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17FC0-7C60-40C2-8273-D68DA7F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7C257-C1E9-42F2-8517-E13D203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87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原型驗證 → 平台 PoC → 延伸充電規劃與其他座艙任務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11FB1-0B30-47EF-8BE6-E745ABCE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量產前仍需 AAOS / CDC 整合、可靠度、權限與實際使用情境驗證。</a:t>
            </a:r>
          </a:p>
        </p:txBody>
      </p:sp>
    </p:spTree>
    <p:extLst>
      <p:ext uri="{BB962C8B-B14F-4D97-AF65-F5344CB8AC3E}">
        <p14:creationId xmlns:p14="http://schemas.microsoft.com/office/powerpoint/2010/main" val="5274295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C27B7-2674-448E-A0CA-0BB7017A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附錄 A  AI 技術與第三方元件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9C6C8-67C5-4684-938A-6052186E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擬採模型與推論工具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F6015-A6B0-4DC4-B630-52FDAC76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選型草案；實際模型檔、版本、量化設定與 API ID 於整合後鎖定。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72E29-A1D8-41D3-A870-F8C261A5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2FC2B-F685-4330-B421-249D459B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E1C6E-7475-4A76-B396-97713612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524125"/>
                <a:gridCol w="3000375"/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元件／模型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用途與架構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授權／來源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待鎖定項目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Whisper small 多語版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Offline 中文語音辨識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MIT / OpenAI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權重來源、格式與雜湊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whisper.cpp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Offline 語音推論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MIT / ggml-org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tag / commit、建置設定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Qwen3-1.7B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Offline 語意理解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Apache-2.0 / Qwen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量化來源、非思考設定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llama.cpp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Offline 小模型推論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MIT / ggml-org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tag / commit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Claude API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Cloud 多條件比較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Anthropic 商用 API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模型 ID、API / SDK 版本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86412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4D97B-3BDC-4FD8-9AE9-AD14DFBC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附錄 B  資料、素材與開發揭露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7E311-C520-471C-BF7C-64F3DA1D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73B4A"/>
                </a:solidFill>
                <a:latin typeface="Noto Sans TC"/>
                <a:ea typeface="Noto Sans TC"/>
                <a:cs typeface="Noto Sans TC"/>
              </a:rPr>
              <a:t>清楚區分既有元件與本次新增內容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A0B78-B51B-48D6-8D26-18A1A888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以下為揭露摘要；正式送件需另附完整「AI 技術與第三方元件揭露表」。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3E7A2-2CAC-416F-AA4E-4E9E782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39FE1-6F0E-46B3-BC8E-0F465A5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7DC9A-E806-4504-B176-486C5751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087F86"/>
                </a:solidFill>
                <a:latin typeface="Noto Sans TC"/>
                <a:ea typeface="Noto Sans TC"/>
                <a:cs typeface="Noto Sans TC"/>
              </a:rPr>
              <a:t>17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95500"/>
          <a:ext xmlns:a="http://schemas.openxmlformats.org/drawingml/2006/main" cx="110490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5334000"/>
                <a:gridCol w="3476625"/>
              </a:tblGrid>
              <a:tr h="68389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項目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規劃內容與來源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送件前補齊</a:t>
                      </a:r>
                    </a:p>
                  </a:txBody>
                  <a:tcPr marL="152400" marR="152400" marT="123825" marB="95250" anchor="ctr">
                    <a:solidFill>
                      <a:srgbClr val="102B3B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HMI 與資料庫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Kotlin / Compose / SQLite；標準 Android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版本、依賴清單</a:t>
                      </a:r>
                    </a:p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與個別授權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地點與評估資料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自建 6–10 個地點；團隊錄製測試語音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資料內容、製作方式</a:t>
                      </a:r>
                    </a:p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與錄音同意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圖片與視覺素材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簡報採文字與架構圖；UI 素材待定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素材來源、使用範圍</a:t>
                      </a:r>
                    </a:p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與展示授權</a:t>
                      </a:r>
                    </a:p>
                  </a:txBody>
                  <a:tcPr marL="152400" marR="152400" marT="123825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本次新增開發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任務狀態、JSON 介面、混合流程與測試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實際完成項目</a:t>
                      </a:r>
                    </a:p>
                    <a:p>
                      <a:r>
                        <a:rPr sz="1650" b="0">
                          <a:solidFill>
                            <a:srgbClr val="173B4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與既有程式界線</a:t>
                      </a:r>
                    </a:p>
                  </a:txBody>
                  <a:tcPr marL="152400" marR="152400" marT="123825" marB="95250" anchor="ctr">
                    <a:solidFill>
                      <a:srgbClr val="E9F1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53068-EDF4-46AE-A434-99F027A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59737D"/>
                </a:solidFill>
                <a:latin typeface="Noto Sans TC"/>
                <a:ea typeface="Noto Sans TC"/>
                <a:cs typeface="Noto Sans TC"/>
              </a:rPr>
              <a:t>不把示範資料當成即時資訊；公開展示、展會與 PoC 使用範圍須逐項確認。</a:t>
            </a:r>
          </a:p>
        </p:txBody>
      </p:sp>
    </p:spTree>
    <p:extLst>
      <p:ext uri="{BB962C8B-B14F-4D97-AF65-F5344CB8AC3E}">
        <p14:creationId xmlns:p14="http://schemas.microsoft.com/office/powerpoint/2010/main" val="247333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60992-5D65-4DD4-A42A-69A9ABA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FlowCockpit  隨境座艙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8A386-0ADC-4809-9B79-B114F07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離線可用，中斷可續，連網更懂需求。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AD826-FDD8-4FE5-946D-80317F99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5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63DF9-4E0D-4E10-8105-635BFD73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6667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BD1D8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BBD1D8"/>
                </a:solidFill>
                <a:latin typeface="Noto Sans TC"/>
                <a:ea typeface="Noto Sans TC"/>
                <a:cs typeface="Noto Sans TC"/>
              </a:rPr>
              <a:t>FlowCockpit  /  隨境座艙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90FE4-A9CE-4F1E-B95E-EDB9E578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1DF95-12E6-484B-8295-BE02E92E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104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把「我想要什麼」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變成「接下來可以怎麼做」。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92237-FDA9-4712-B39E-4C67F0D9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58E0CA"/>
                </a:solidFill>
                <a:latin typeface="Noto Sans TC"/>
                <a:ea typeface="Noto Sans TC"/>
                <a:cs typeface="Noto Sans TC"/>
              </a:rPr>
              <a:t>一個清楚的需求 → 一組可操作選擇 → 一次完整任務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2987B-E64C-48F1-A0DE-6DA4FD48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BD1D8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0">
                <a:solidFill>
                  <a:srgbClr val="BBD1D8"/>
                </a:solidFill>
                <a:latin typeface="Noto Sans TC"/>
                <a:ea typeface="Noto Sans TC"/>
                <a:cs typeface="Noto Sans TC"/>
              </a:rPr>
              <a:t>現場展示核心：新輸入、修改、斷網、恢復、確認。</a:t>
            </a:r>
          </a:p>
        </p:txBody>
      </p:sp>
    </p:spTree>
    <p:extLst>
      <p:ext uri="{BB962C8B-B14F-4D97-AF65-F5344CB8AC3E}">
        <p14:creationId xmlns:p14="http://schemas.microsoft.com/office/powerpoint/2010/main" val="1928041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2026-09-28T07:22:41.8800000Z</dcterms:created>
  <dcterms:modified xsi:type="dcterms:W3CDTF">2026-09-28T07:22:41.8800000Z</dcterms:modified>
</coreProperties>
</file>