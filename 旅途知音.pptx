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7"/>
  </p:notesMasterIdLst>
  <p:sldIdLst>
    <p:sldId id="273" r:id="rId2"/>
    <p:sldId id="258" r:id="rId3"/>
    <p:sldId id="265" r:id="rId4"/>
    <p:sldId id="278" r:id="rId5"/>
    <p:sldId id="274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424" autoAdjust="0"/>
  </p:normalViewPr>
  <p:slideViewPr>
    <p:cSldViewPr snapToGrid="0">
      <p:cViewPr varScale="1">
        <p:scale>
          <a:sx n="95" d="100"/>
          <a:sy n="95" d="100"/>
        </p:scale>
        <p:origin x="11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F50BD-06CA-4B50-87B9-EB39A61CDB50}" type="datetimeFigureOut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FC876-9D20-4420-9C6A-A4B612F682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1607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各位評審好，我們的作品名稱叫旅途知音，這是我們的成員及指導教授。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我們做這個作品的目的是為了駕駛者在途中疲倦時，</a:t>
            </a:r>
            <a:r>
              <a:rPr lang="zh-TW" altLang="en-US" sz="1200" b="1" dirty="0">
                <a:solidFill>
                  <a:srgbClr val="0D3551"/>
                </a:solidFill>
                <a:latin typeface="微軟正黑體"/>
                <a:ea typeface="微軟正黑體"/>
                <a:cs typeface="微軟正黑體"/>
              </a:rPr>
              <a:t>駕駛只要說出途中需求， </a:t>
            </a:r>
            <a:r>
              <a:rPr lang="en-US" altLang="zh-TW" sz="1200" b="1" dirty="0">
                <a:solidFill>
                  <a:srgbClr val="0D3551"/>
                </a:solidFill>
                <a:latin typeface="微軟正黑體"/>
                <a:ea typeface="微軟正黑體"/>
                <a:cs typeface="微軟正黑體"/>
              </a:rPr>
              <a:t>AI  </a:t>
            </a:r>
            <a:r>
              <a:rPr lang="zh-TW" altLang="en-US" sz="1200" b="1" dirty="0">
                <a:solidFill>
                  <a:srgbClr val="0D3551"/>
                </a:solidFill>
                <a:latin typeface="微軟正黑體"/>
                <a:ea typeface="微軟正黑體"/>
                <a:cs typeface="微軟正黑體"/>
              </a:rPr>
              <a:t>情境感知助理能把使用者的需求轉成可操作的地點候選與條件，此外外網中斷時仍完成核心查詢。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這是我們的系統流程圖，首先透過錄製使用者語音產生</a:t>
            </a:r>
            <a:r>
              <a:rPr lang="en-US" altLang="zh-TW" dirty="0"/>
              <a:t>wav</a:t>
            </a:r>
            <a:r>
              <a:rPr lang="zh-TW" altLang="en-US" dirty="0"/>
              <a:t>檔案並將語音轉成文字，再搭配本地 </a:t>
            </a:r>
            <a:r>
              <a:rPr lang="en-US" altLang="zh-TW" dirty="0"/>
              <a:t>AI</a:t>
            </a:r>
            <a:r>
              <a:rPr lang="zh-TW" altLang="en-US" dirty="0"/>
              <a:t>搜尋離線地圖資料， 然後回傳地點資料並顯示在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Android App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，在沒有網路的情況時，系統會顯示簡易的比較建議，如果有連網時則會顯示更完善的建議。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那這是未來展望 我們想用低成本實現情境式</a:t>
            </a:r>
            <a:r>
              <a:rPr lang="en-US" altLang="zh-TW" dirty="0"/>
              <a:t>ai</a:t>
            </a:r>
            <a:r>
              <a:rPr lang="zh-TW" altLang="en-US" dirty="0"/>
              <a:t> 因為現在的汽車大眾偏好低價車款 我們設計理念就是讓國民車也有</a:t>
            </a:r>
            <a:r>
              <a:rPr lang="en-US" altLang="zh-TW" dirty="0"/>
              <a:t>ai</a:t>
            </a:r>
            <a:r>
              <a:rPr lang="zh-TW" altLang="en-US" dirty="0"/>
              <a:t>座艙  不再是豪華車的配備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7DC20C-8C3C-E04D-7624-615E12E16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CF19F56-7FD0-BD20-3E55-EA7AD8BAB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1017A7-0173-C795-74F0-058362FFE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E1AA-E3E0-4CC9-AE3A-5E521FA6E024}" type="datetimeFigureOut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9D7208-F13B-5B86-AB53-59CB75486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441369-CBA2-4FCA-0FC5-8EB583661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1F1D-A2E5-46F4-802F-F03945524A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250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05DB15-66CE-EB00-020E-922379C56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223EA2-0222-B9DE-7AAB-B00052F05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CA35F8B-CBCD-B0C0-1C40-475C2FEE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E1AA-E3E0-4CC9-AE3A-5E521FA6E024}" type="datetimeFigureOut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F0EFB9-1FFC-B6BE-30B7-C695E9EAB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187D51-9601-6FCF-62D9-B482F6236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1F1D-A2E5-46F4-802F-F03945524A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3049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84A1FE-852B-8FC2-CBA7-C96B3FDCD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7D731C-3D58-AA86-8E78-EDAF488AE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F08EBB-82F2-191A-F275-CA545A694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E1AA-E3E0-4CC9-AE3A-5E521FA6E024}" type="datetimeFigureOut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98AF54-1289-B5B5-ACF1-17CCF9BD6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433F78-1547-096E-37FA-0C2F1A52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1F1D-A2E5-46F4-802F-F03945524A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328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716EEB-6693-45BF-3DB9-B7EF45DE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CFA96D-0533-D087-C5F5-2FCC5FA31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867826B-B3B9-0700-4605-53B55B80D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B0088E5-AA52-198F-55A2-7B746C2BA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E1AA-E3E0-4CC9-AE3A-5E521FA6E024}" type="datetimeFigureOut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9E53220-8468-2864-D4FD-64A154B6E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6302CC-BA39-5A55-1877-FE56EA728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1F1D-A2E5-46F4-802F-F03945524A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16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3E10FB-1528-F13F-F4CA-7A39C2A66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EDFCF0-F49E-9ABC-606A-3D0EF0787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B76E8F3-2605-8CDC-B8BD-E9E80B211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02B22A-E243-F41F-0581-81EAA2FFF7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AA6F8F3-3B3C-BA01-6433-3110392AF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6C9CEB9-298E-C5C8-84F9-A83B681F9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E1AA-E3E0-4CC9-AE3A-5E521FA6E024}" type="datetimeFigureOut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4612271-6213-A8CE-E0DC-161069492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90E25DE-D9D3-9EA2-E2F9-10C05560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1F1D-A2E5-46F4-802F-F03945524A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8551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7AE961-D160-E256-3A02-F86F083D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2CB45D9-28EA-F2D8-1865-C3316F3C5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E1AA-E3E0-4CC9-AE3A-5E521FA6E024}" type="datetimeFigureOut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28BBA36-7306-A098-7E3C-3EE25A96A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A920398-8F63-6617-505D-E975791CA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1F1D-A2E5-46F4-802F-F03945524A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7019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CE1227C-2A8E-6910-A195-81C4B9C08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E1AA-E3E0-4CC9-AE3A-5E521FA6E024}" type="datetimeFigureOut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1C3FD85-7398-74F1-EE3E-2129BB999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087A9B-12F2-EF56-E15D-8BCEC43FC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1F1D-A2E5-46F4-802F-F03945524A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921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2A03A5-1B21-A13E-DE0D-B1C810076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36C979-F09F-BAC7-45BA-CE8E1CF5D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E1C7374-FB49-6765-FD72-AEAE7493E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0BE7230-1482-32B7-F62F-D4563084E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E1AA-E3E0-4CC9-AE3A-5E521FA6E024}" type="datetimeFigureOut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9EE1E6B-5B09-2F24-AB1D-8567B38C0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9B2C674-5F0D-CBB0-AB4E-5DAD7A11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1F1D-A2E5-46F4-802F-F03945524A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606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564528-124B-7356-8022-7797C7CDB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7768A5C-8434-C7D5-8C21-9EBECF52D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B001EE0-811C-4142-7A77-3150B8270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89E2C88-80F5-3A8A-8FDD-EC8E920EB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E1AA-E3E0-4CC9-AE3A-5E521FA6E024}" type="datetimeFigureOut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581692C-10D2-491F-FC59-98DD024A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188985-6FDB-B8A0-7D7F-EAA12BF2C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1F1D-A2E5-46F4-802F-F03945524A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651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B23EDC-45C7-B1CD-5E0E-723B291EF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6B2A134-6954-40A7-B392-0B52CB0C3D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4E8C8D-DCE2-6BA7-F2A0-D13B98EE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E1AA-E3E0-4CC9-AE3A-5E521FA6E024}" type="datetimeFigureOut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6388EE-6CD6-9BCC-8A1B-500E5865E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ACC6DD-DD6A-8E11-95E8-9585615D7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1F1D-A2E5-46F4-802F-F03945524A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3964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0E9F69B-6E95-4BB6-4CF6-D1799BFD6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5DDFEDC-B13A-73B6-2F35-4A1EBA3B7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2717F1-8C53-1E2E-A841-8EC53524D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E1AA-E3E0-4CC9-AE3A-5E521FA6E024}" type="datetimeFigureOut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1DE07A-C16D-CF9B-FDCB-BD13400F8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CC6591-32D1-027E-EE8E-5DF2BFD02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1F1D-A2E5-46F4-802F-F03945524A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267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52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754B57E-B8AE-40C4-2ACE-8A19004EA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C327D2D-B7D5-F012-0282-570B2FBC4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194144-6C31-DCD5-BF43-93AF40466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15E1AA-E3E0-4CC9-AE3A-5E521FA6E024}" type="datetimeFigureOut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1D222A-15E8-44D0-A863-A0BDA8568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DAFE2E-60F2-BF05-BAFF-00BF5B13A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E21F1D-A2E5-46F4-802F-F03945524A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25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8EC"/>
            </a:gs>
            <a:gs pos="100000">
              <a:srgbClr val="E6F0E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太陽光暈"/>
          <p:cNvSpPr/>
          <p:nvPr/>
        </p:nvSpPr>
        <p:spPr>
          <a:xfrm>
            <a:off x="8763000" y="508000"/>
            <a:ext cx="2540000" cy="2540000"/>
          </a:xfrm>
          <a:prstGeom prst="ellipse">
            <a:avLst/>
          </a:prstGeom>
          <a:solidFill>
            <a:srgbClr val="F6E3A8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" name="太陽"/>
          <p:cNvSpPr/>
          <p:nvPr/>
        </p:nvSpPr>
        <p:spPr>
          <a:xfrm>
            <a:off x="9207500" y="952500"/>
            <a:ext cx="1651000" cy="1651000"/>
          </a:xfrm>
          <a:prstGeom prst="ellipse">
            <a:avLst/>
          </a:prstGeom>
          <a:solidFill>
            <a:srgbClr val="F2CF73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4" name="雲1"/>
          <p:cNvSpPr/>
          <p:nvPr/>
        </p:nvSpPr>
        <p:spPr>
          <a:xfrm>
            <a:off x="7493000" y="17780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5" name="雲2"/>
          <p:cNvSpPr/>
          <p:nvPr/>
        </p:nvSpPr>
        <p:spPr>
          <a:xfrm>
            <a:off x="7874000" y="1524000"/>
            <a:ext cx="88900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6" name="雲3"/>
          <p:cNvSpPr/>
          <p:nvPr/>
        </p:nvSpPr>
        <p:spPr>
          <a:xfrm>
            <a:off x="10668000" y="2921000"/>
            <a:ext cx="1143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7" name="遠山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960" h="540">
                <a:moveTo>
                  <a:pt x="0" y="410"/>
                </a:moveTo>
                <a:cubicBezTo>
                  <a:pt x="150" y="360"/>
                  <a:pt x="300" y="350"/>
                  <a:pt x="450" y="380"/>
                </a:cubicBezTo>
                <a:cubicBezTo>
                  <a:pt x="600" y="410"/>
                  <a:pt x="720" y="320"/>
                  <a:pt x="960" y="340"/>
                </a:cubicBezTo>
                <a:lnTo>
                  <a:pt x="960" y="540"/>
                </a:lnTo>
                <a:lnTo>
                  <a:pt x="0" y="540"/>
                </a:lnTo>
                <a:close/>
              </a:path>
            </a:pathLst>
          </a:custGeom>
          <a:solidFill>
            <a:srgbClr val="CFE0B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8" name="中丘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960" h="540">
                <a:moveTo>
                  <a:pt x="0" y="452"/>
                </a:moveTo>
                <a:cubicBezTo>
                  <a:pt x="180" y="402"/>
                  <a:pt x="360" y="422"/>
                  <a:pt x="540" y="442"/>
                </a:cubicBezTo>
                <a:cubicBezTo>
                  <a:pt x="700" y="460"/>
                  <a:pt x="820" y="402"/>
                  <a:pt x="960" y="412"/>
                </a:cubicBezTo>
                <a:lnTo>
                  <a:pt x="960" y="540"/>
                </a:lnTo>
                <a:lnTo>
                  <a:pt x="0" y="540"/>
                </a:lnTo>
                <a:close/>
              </a:path>
            </a:pathLst>
          </a:custGeom>
          <a:solidFill>
            <a:srgbClr val="A9C99A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9" name="樹幹1"/>
          <p:cNvSpPr/>
          <p:nvPr/>
        </p:nvSpPr>
        <p:spPr>
          <a:xfrm>
            <a:off x="10121900" y="5054600"/>
            <a:ext cx="76200" cy="355600"/>
          </a:xfrm>
          <a:prstGeom prst="rect">
            <a:avLst/>
          </a:prstGeom>
          <a:solidFill>
            <a:srgbClr val="7A6248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0" name="樹冠1"/>
          <p:cNvSpPr/>
          <p:nvPr/>
        </p:nvSpPr>
        <p:spPr>
          <a:xfrm>
            <a:off x="9880600" y="4445000"/>
            <a:ext cx="558800" cy="711200"/>
          </a:xfrm>
          <a:prstGeom prst="ellipse">
            <a:avLst/>
          </a:prstGeom>
          <a:solidFill>
            <a:srgbClr val="5F9060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1" name="樹幹2"/>
          <p:cNvSpPr/>
          <p:nvPr/>
        </p:nvSpPr>
        <p:spPr>
          <a:xfrm>
            <a:off x="10769600" y="4953000"/>
            <a:ext cx="63500" cy="330200"/>
          </a:xfrm>
          <a:prstGeom prst="rect">
            <a:avLst/>
          </a:prstGeom>
          <a:solidFill>
            <a:srgbClr val="7A6248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2" name="樹冠2"/>
          <p:cNvSpPr/>
          <p:nvPr/>
        </p:nvSpPr>
        <p:spPr>
          <a:xfrm>
            <a:off x="10579100" y="4470400"/>
            <a:ext cx="444500" cy="584200"/>
          </a:xfrm>
          <a:prstGeom prst="ellipse">
            <a:avLst/>
          </a:prstGeom>
          <a:solidFill>
            <a:srgbClr val="78A872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3" name="近丘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960" h="540">
                <a:moveTo>
                  <a:pt x="0" y="492"/>
                </a:moveTo>
                <a:cubicBezTo>
                  <a:pt x="200" y="456"/>
                  <a:pt x="420" y="492"/>
                  <a:pt x="620" y="486"/>
                </a:cubicBezTo>
                <a:cubicBezTo>
                  <a:pt x="780" y="482"/>
                  <a:pt x="880" y="462"/>
                  <a:pt x="960" y="472"/>
                </a:cubicBezTo>
                <a:lnTo>
                  <a:pt x="960" y="540"/>
                </a:lnTo>
                <a:lnTo>
                  <a:pt x="0" y="540"/>
                </a:lnTo>
                <a:close/>
              </a:path>
            </a:pathLst>
          </a:custGeom>
          <a:solidFill>
            <a:srgbClr val="7FAE79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4" name="標籤"/>
          <p:cNvSpPr/>
          <p:nvPr/>
        </p:nvSpPr>
        <p:spPr>
          <a:xfrm>
            <a:off x="812800" y="660400"/>
            <a:ext cx="3175000" cy="381000"/>
          </a:xfrm>
          <a:prstGeom prst="roundRect">
            <a:avLst>
              <a:gd name="adj" fmla="val 50000"/>
            </a:avLst>
          </a:prstGeom>
          <a:solidFill>
            <a:srgbClr val="E3ECD6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zh-TW" sz="1400" b="1" dirty="0">
                <a:solidFill>
                  <a:srgbClr val="3F6B45"/>
                </a:solidFill>
                <a:latin typeface="微軟正黑體"/>
                <a:ea typeface="微軟正黑體"/>
                <a:cs typeface="微軟正黑體"/>
              </a:rPr>
              <a:t>實作組 | Hybrid AI Prototype</a:t>
            </a:r>
          </a:p>
        </p:txBody>
      </p:sp>
      <p:sp>
        <p:nvSpPr>
          <p:cNvPr id="15" name="標題"/>
          <p:cNvSpPr>
            <a:spLocks noGrp="1"/>
          </p:cNvSpPr>
          <p:nvPr>
            <p:ph type="ctrTitle"/>
          </p:nvPr>
        </p:nvSpPr>
        <p:spPr>
          <a:xfrm>
            <a:off x="812800" y="1270000"/>
            <a:ext cx="7112000" cy="1092200"/>
          </a:xfrm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zh-TW" sz="6600" b="1" dirty="0">
                <a:solidFill>
                  <a:srgbClr val="2F4A35"/>
                </a:solidFill>
                <a:latin typeface="微軟正黑體"/>
                <a:ea typeface="微軟正黑體"/>
                <a:cs typeface="微軟正黑體"/>
              </a:rPr>
              <a:t>旅途知音</a:t>
            </a:r>
          </a:p>
        </p:txBody>
      </p:sp>
      <p:sp>
        <p:nvSpPr>
          <p:cNvPr id="16" name="副標題"/>
          <p:cNvSpPr>
            <a:spLocks noGrp="1"/>
          </p:cNvSpPr>
          <p:nvPr>
            <p:ph type="subTitle" idx="1"/>
          </p:nvPr>
        </p:nvSpPr>
        <p:spPr>
          <a:xfrm>
            <a:off x="812800" y="2463800"/>
            <a:ext cx="7112000" cy="508000"/>
          </a:xfrm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zh-TW" sz="2400" b="0" dirty="0">
                <a:solidFill>
                  <a:srgbClr val="4A5D4B"/>
                </a:solidFill>
                <a:latin typeface="微軟正黑體"/>
                <a:ea typeface="微軟正黑體"/>
                <a:cs typeface="微軟正黑體"/>
              </a:rPr>
              <a:t>把 AI 化為聽懂駕駛需求的旅途夥伴</a:t>
            </a:r>
          </a:p>
        </p:txBody>
      </p:sp>
      <p:sp>
        <p:nvSpPr>
          <p:cNvPr id="17" name="分隔線"/>
          <p:cNvSpPr/>
          <p:nvPr/>
        </p:nvSpPr>
        <p:spPr>
          <a:xfrm>
            <a:off x="812800" y="3175000"/>
            <a:ext cx="91440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18" name="學校系所"/>
          <p:cNvSpPr txBox="1"/>
          <p:nvPr/>
        </p:nvSpPr>
        <p:spPr>
          <a:xfrm>
            <a:off x="812800" y="3454400"/>
            <a:ext cx="7112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zh-TW" sz="2000" b="1" dirty="0">
                <a:solidFill>
                  <a:srgbClr val="2F4A35"/>
                </a:solidFill>
                <a:latin typeface="微軟正黑體"/>
                <a:ea typeface="微軟正黑體"/>
                <a:cs typeface="微軟正黑體"/>
              </a:rPr>
              <a:t>雲林科技大學　電機工程系</a:t>
            </a:r>
          </a:p>
        </p:txBody>
      </p:sp>
      <p:sp>
        <p:nvSpPr>
          <p:cNvPr id="19" name="成員"/>
          <p:cNvSpPr txBox="1"/>
          <p:nvPr/>
        </p:nvSpPr>
        <p:spPr>
          <a:xfrm>
            <a:off x="812800" y="3911600"/>
            <a:ext cx="7620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zh-TW" sz="1600" b="0" dirty="0">
                <a:solidFill>
                  <a:srgbClr val="4A5D4B"/>
                </a:solidFill>
                <a:latin typeface="微軟正黑體"/>
                <a:ea typeface="微軟正黑體"/>
                <a:cs typeface="微軟正黑體"/>
              </a:rPr>
              <a:t>成員：謝孟勳（隊長）、徐家偉、廖浩廷、林宸頡、陳弘致</a:t>
            </a:r>
          </a:p>
        </p:txBody>
      </p:sp>
      <p:sp>
        <p:nvSpPr>
          <p:cNvPr id="20" name="指導教授"/>
          <p:cNvSpPr txBox="1"/>
          <p:nvPr/>
        </p:nvSpPr>
        <p:spPr>
          <a:xfrm>
            <a:off x="812800" y="4318000"/>
            <a:ext cx="7112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zh-TW" sz="1600" b="0" dirty="0">
                <a:solidFill>
                  <a:srgbClr val="4A5D4B"/>
                </a:solidFill>
                <a:latin typeface="微軟正黑體"/>
                <a:ea typeface="微軟正黑體"/>
                <a:cs typeface="微軟正黑體"/>
              </a:rPr>
              <a:t>指導教授：林家仁教授</a:t>
            </a:r>
          </a:p>
        </p:txBody>
      </p:sp>
      <p:sp>
        <p:nvSpPr>
          <p:cNvPr id="21" name="頁碼"/>
          <p:cNvSpPr txBox="1"/>
          <p:nvPr/>
        </p:nvSpPr>
        <p:spPr>
          <a:xfrm>
            <a:off x="11010900" y="6451600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altLang="zh-TW" sz="1200" b="1" dirty="0">
                <a:solidFill>
                  <a:srgbClr val="1F3524"/>
                </a:solidFill>
                <a:latin typeface="微軟正黑體"/>
                <a:ea typeface="微軟正黑體"/>
                <a:cs typeface="微軟正黑體"/>
              </a:rPr>
              <a:t>01</a:t>
            </a:r>
            <a:endParaRPr lang="zh-TW" sz="1200" b="1" dirty="0">
              <a:solidFill>
                <a:srgbClr val="1F3524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11205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直線接點 33">
            <a:extLst>
              <a:ext uri="{FF2B5EF4-FFF2-40B4-BE49-F238E27FC236}">
                <a16:creationId xmlns:a16="http://schemas.microsoft.com/office/drawing/2014/main" id="{0EBB3826-42A7-4293-82A4-4292FF21933D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125200" cy="0"/>
          </a:xfrm>
          <a:prstGeom prst="line">
            <a:avLst/>
          </a:prstGeom>
          <a:noFill/>
          <a:ln w="11430">
            <a:solidFill>
              <a:srgbClr val="B8CAD4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C2D41E-A4B8-4714-8B4A-73338551A682}"/>
              </a:ext>
            </a:extLst>
          </p:cNvPr>
          <p:cNvSpPr>
            <a:spLocks noGrp="1"/>
          </p:cNvSpPr>
          <p:nvPr/>
        </p:nvSpPr>
        <p:spPr>
          <a:xfrm>
            <a:off x="552450" y="257175"/>
            <a:ext cx="8572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47625" tIns="19050" rIns="47625" bIns="19050" anchor="t">
            <a:noAutofit/>
          </a:bodyPr>
          <a:lstStyle/>
          <a:p>
            <a:pPr algn="l">
              <a:lnSpc>
                <a:spcPct val="105000"/>
              </a:lnSpc>
              <a:buNone/>
              <a:defRPr sz="2850">
                <a:solidFill>
                  <a:srgbClr val="102A3A"/>
                </a:solidFill>
              </a:defRPr>
            </a:pPr>
            <a:r>
              <a:rPr sz="2850" b="1">
                <a:solidFill>
                  <a:srgbClr val="102A3A"/>
                </a:solidFill>
                <a:latin typeface="微軟正黑體"/>
                <a:ea typeface="微軟正黑體"/>
                <a:cs typeface="微軟正黑體"/>
              </a:rPr>
              <a:t>方案與核心價值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AD1324-AD80-4057-8F38-67AE52AA3F85}"/>
              </a:ext>
            </a:extLst>
          </p:cNvPr>
          <p:cNvSpPr>
            <a:spLocks noGrp="1"/>
          </p:cNvSpPr>
          <p:nvPr/>
        </p:nvSpPr>
        <p:spPr>
          <a:xfrm>
            <a:off x="9191625" y="361950"/>
            <a:ext cx="2428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47625" tIns="19050" rIns="47625" bIns="19050" anchor="t">
            <a:noAutofit/>
          </a:bodyPr>
          <a:lstStyle/>
          <a:p>
            <a:pPr algn="r">
              <a:lnSpc>
                <a:spcPct val="105000"/>
              </a:lnSpc>
              <a:buNone/>
              <a:defRPr sz="1350">
                <a:solidFill>
                  <a:srgbClr val="00A7C7"/>
                </a:solidFill>
              </a:defRPr>
            </a:pPr>
            <a:r>
              <a:rPr sz="1350" b="1">
                <a:solidFill>
                  <a:srgbClr val="00A7C7"/>
                </a:solidFill>
                <a:latin typeface="微軟正黑體"/>
                <a:ea typeface="微軟正黑體"/>
                <a:cs typeface="微軟正黑體"/>
              </a:rPr>
              <a:t>提案概述 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D8DC7995-37D7-4DB0-8BA3-B07E4FC125F5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0"/>
          </a:xfrm>
          <a:prstGeom prst="line">
            <a:avLst/>
          </a:prstGeom>
          <a:noFill/>
          <a:ln w="9525">
            <a:solidFill>
              <a:srgbClr val="B8CAD4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FC4C7B-CD59-41B7-AB89-25B341AF0FAD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47625" tIns="19050" rIns="47625" bIns="19050" anchor="ctr">
            <a:noAutofit/>
          </a:bodyPr>
          <a:lstStyle/>
          <a:p>
            <a:pPr>
              <a:lnSpc>
                <a:spcPct val="105000"/>
              </a:lnSpc>
              <a:buNone/>
              <a:defRPr sz="2400">
                <a:solidFill>
                  <a:srgbClr val="0D3551"/>
                </a:solidFill>
              </a:defRPr>
            </a:pPr>
            <a:r>
              <a:rPr sz="2400" b="1" dirty="0" err="1">
                <a:solidFill>
                  <a:srgbClr val="0D3551"/>
                </a:solidFill>
                <a:latin typeface="微軟正黑體"/>
                <a:ea typeface="微軟正黑體"/>
                <a:cs typeface="微軟正黑體"/>
              </a:rPr>
              <a:t>駕駛只要說出途中需求</a:t>
            </a:r>
            <a:r>
              <a:rPr sz="2400" b="1" dirty="0">
                <a:solidFill>
                  <a:srgbClr val="0D3551"/>
                </a:solidFill>
                <a:latin typeface="微軟正黑體"/>
                <a:ea typeface="微軟正黑體"/>
                <a:cs typeface="微軟正黑體"/>
              </a:rPr>
              <a:t>， AI  </a:t>
            </a:r>
            <a:r>
              <a:rPr sz="2400" b="1" dirty="0" err="1">
                <a:solidFill>
                  <a:srgbClr val="0D3551"/>
                </a:solidFill>
                <a:latin typeface="微軟正黑體"/>
                <a:ea typeface="微軟正黑體"/>
                <a:cs typeface="微軟正黑體"/>
              </a:rPr>
              <a:t>情境感知助理能把使用者的需求轉成可操作的地點候選與條件，此外外網中斷時仍完成核心查詢</a:t>
            </a:r>
            <a:r>
              <a:rPr sz="2400" b="1" dirty="0">
                <a:solidFill>
                  <a:srgbClr val="0D355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pic>
        <p:nvPicPr>
          <p:cNvPr id="42" name="圖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87" y="1943261"/>
            <a:ext cx="9725025" cy="4333714"/>
          </a:xfrm>
          <a:prstGeom prst="rect">
            <a:avLst/>
          </a:prstGeom>
        </p:spPr>
      </p:pic>
      <p:sp>
        <p:nvSpPr>
          <p:cNvPr id="8" name="頁碼">
            <a:extLst>
              <a:ext uri="{FF2B5EF4-FFF2-40B4-BE49-F238E27FC236}">
                <a16:creationId xmlns:a16="http://schemas.microsoft.com/office/drawing/2014/main" id="{988CDE67-FC3F-0783-EE21-B7EB4124A8B0}"/>
              </a:ext>
            </a:extLst>
          </p:cNvPr>
          <p:cNvSpPr txBox="1"/>
          <p:nvPr/>
        </p:nvSpPr>
        <p:spPr>
          <a:xfrm>
            <a:off x="11010900" y="6451600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altLang="zh-TW" sz="1200" b="1" dirty="0">
                <a:solidFill>
                  <a:srgbClr val="1F3524"/>
                </a:solidFill>
                <a:latin typeface="微軟正黑體"/>
                <a:ea typeface="微軟正黑體"/>
                <a:cs typeface="微軟正黑體"/>
              </a:rPr>
              <a:t>02</a:t>
            </a:r>
            <a:endParaRPr lang="zh-TW" sz="1200" b="1" dirty="0">
              <a:solidFill>
                <a:srgbClr val="1F3524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9424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header-line-11">
            <a:extLst>
              <a:ext uri="{FF2B5EF4-FFF2-40B4-BE49-F238E27FC236}">
                <a16:creationId xmlns:a16="http://schemas.microsoft.com/office/drawing/2014/main" id="{7CA92785-DEF9-45CE-B986-B37E4B33B8CE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125200" cy="0"/>
          </a:xfrm>
          <a:prstGeom prst="line">
            <a:avLst/>
          </a:prstGeom>
          <a:noFill/>
          <a:ln w="9525">
            <a:solidFill>
              <a:srgbClr val="D6E2E8"/>
            </a:solidFill>
            <a:prstDash val="solid"/>
          </a:ln>
        </p:spPr>
      </p:sp>
      <p:sp>
        <p:nvSpPr>
          <p:cNvPr id="2" name="footer-line-11">
            <a:extLst>
              <a:ext uri="{FF2B5EF4-FFF2-40B4-BE49-F238E27FC236}">
                <a16:creationId xmlns:a16="http://schemas.microsoft.com/office/drawing/2014/main" id="{B08F58A0-7FC0-40ED-A169-947D2982821B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0"/>
          </a:xfrm>
          <a:prstGeom prst="line">
            <a:avLst/>
          </a:prstGeom>
          <a:noFill/>
          <a:ln w="9525">
            <a:solidFill>
              <a:srgbClr val="D6E2E8"/>
            </a:solidFill>
            <a:prstDash val="solid"/>
          </a:ln>
        </p:spPr>
      </p:sp>
      <p:sp>
        <p:nvSpPr>
          <p:cNvPr id="3" name="title-11">
            <a:extLst>
              <a:ext uri="{FF2B5EF4-FFF2-40B4-BE49-F238E27FC236}">
                <a16:creationId xmlns:a16="http://schemas.microsoft.com/office/drawing/2014/main" id="{4D154061-6BB3-4B5E-B9D8-36B75069865F}"/>
              </a:ext>
            </a:extLst>
          </p:cNvPr>
          <p:cNvSpPr>
            <a:spLocks noGrp="1"/>
          </p:cNvSpPr>
          <p:nvPr/>
        </p:nvSpPr>
        <p:spPr>
          <a:xfrm>
            <a:off x="552450" y="257175"/>
            <a:ext cx="828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buNone/>
              <a:defRPr sz="2550" b="1">
                <a:solidFill>
                  <a:srgbClr val="173242"/>
                </a:solidFill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系統處理流程</a:t>
            </a:r>
            <a:endParaRPr sz="2550" b="1" dirty="0">
              <a:solidFill>
                <a:srgbClr val="17324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DFKai-SB"/>
            </a:endParaRPr>
          </a:p>
        </p:txBody>
      </p:sp>
      <p:sp>
        <p:nvSpPr>
          <p:cNvPr id="4" name="section-11">
            <a:extLst>
              <a:ext uri="{FF2B5EF4-FFF2-40B4-BE49-F238E27FC236}">
                <a16:creationId xmlns:a16="http://schemas.microsoft.com/office/drawing/2014/main" id="{DBF29B93-B411-46E7-BAFF-C9CB6C59EB03}"/>
              </a:ext>
            </a:extLst>
          </p:cNvPr>
          <p:cNvSpPr>
            <a:spLocks noGrp="1"/>
          </p:cNvSpPr>
          <p:nvPr/>
        </p:nvSpPr>
        <p:spPr>
          <a:xfrm>
            <a:off x="9191625" y="361950"/>
            <a:ext cx="2428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350">
                <a:solidFill>
                  <a:srgbClr val="14BBD4"/>
                </a:solidFill>
              </a:defRPr>
            </a:pPr>
            <a:r>
              <a:rPr sz="1350">
                <a:solidFill>
                  <a:srgbClr val="14BB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Agent </a:t>
            </a:r>
            <a:r>
              <a:rPr sz="1350">
                <a:solidFill>
                  <a:srgbClr val="14BB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/>
              </a:rPr>
              <a:t>與狀態管理</a:t>
            </a:r>
          </a:p>
        </p:txBody>
      </p:sp>
      <p:sp>
        <p:nvSpPr>
          <p:cNvPr id="8" name="agent-1-box">
            <a:extLst>
              <a:ext uri="{FF2B5EF4-FFF2-40B4-BE49-F238E27FC236}">
                <a16:creationId xmlns:a16="http://schemas.microsoft.com/office/drawing/2014/main" id="{960D102A-1605-402B-B08F-91E207EC25C1}"/>
              </a:ext>
            </a:extLst>
          </p:cNvPr>
          <p:cNvSpPr>
            <a:spLocks noGrp="1"/>
          </p:cNvSpPr>
          <p:nvPr/>
        </p:nvSpPr>
        <p:spPr>
          <a:xfrm>
            <a:off x="863312" y="1719551"/>
            <a:ext cx="1809750" cy="1790700"/>
          </a:xfrm>
          <a:prstGeom prst="roundRect">
            <a:avLst>
              <a:gd name="adj" fmla="val 6383"/>
            </a:avLst>
          </a:prstGeom>
          <a:solidFill>
            <a:srgbClr val="EAF8FB"/>
          </a:solidFill>
          <a:ln w="11430">
            <a:solidFill>
              <a:srgbClr val="14BBD4"/>
            </a:solidFill>
            <a:prstDash val="solid"/>
          </a:ln>
        </p:spPr>
      </p:sp>
      <p:sp>
        <p:nvSpPr>
          <p:cNvPr id="9" name="agent-1-step">
            <a:extLst>
              <a:ext uri="{FF2B5EF4-FFF2-40B4-BE49-F238E27FC236}">
                <a16:creationId xmlns:a16="http://schemas.microsoft.com/office/drawing/2014/main" id="{3C574CDC-37C9-404F-9E4D-DCA6E623FF74}"/>
              </a:ext>
            </a:extLst>
          </p:cNvPr>
          <p:cNvSpPr>
            <a:spLocks noGrp="1"/>
          </p:cNvSpPr>
          <p:nvPr/>
        </p:nvSpPr>
        <p:spPr>
          <a:xfrm>
            <a:off x="889577" y="1823748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14BBD4"/>
                </a:solidFill>
              </a:defRPr>
            </a:pPr>
            <a:r>
              <a:rPr sz="1350" b="1">
                <a:solidFill>
                  <a:srgbClr val="14BBD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1</a:t>
            </a:r>
          </a:p>
        </p:txBody>
      </p:sp>
      <p:sp>
        <p:nvSpPr>
          <p:cNvPr id="10" name="agent-1-title">
            <a:extLst>
              <a:ext uri="{FF2B5EF4-FFF2-40B4-BE49-F238E27FC236}">
                <a16:creationId xmlns:a16="http://schemas.microsoft.com/office/drawing/2014/main" id="{8948DD9B-A223-4EF5-BBE5-9D1A9848F5F0}"/>
              </a:ext>
            </a:extLst>
          </p:cNvPr>
          <p:cNvSpPr>
            <a:spLocks noGrp="1"/>
          </p:cNvSpPr>
          <p:nvPr/>
        </p:nvSpPr>
        <p:spPr>
          <a:xfrm>
            <a:off x="1181102" y="1814801"/>
            <a:ext cx="138834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6737"/>
          </a:bodyPr>
          <a:lstStyle/>
          <a:p>
            <a:pPr>
              <a:buNone/>
              <a:defRPr sz="1725" b="1">
                <a:solidFill>
                  <a:srgbClr val="173242"/>
                </a:solidFill>
              </a:defRPr>
            </a:pPr>
            <a:r>
              <a:rPr lang="zh-TW" altLang="en-US" sz="1725" b="1" dirty="0">
                <a:solidFill>
                  <a:srgbClr val="17324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錄製語音</a:t>
            </a:r>
            <a:endParaRPr sz="1725" b="1" dirty="0">
              <a:solidFill>
                <a:srgbClr val="17324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/>
            </a:endParaRPr>
          </a:p>
        </p:txBody>
      </p:sp>
      <p:sp>
        <p:nvSpPr>
          <p:cNvPr id="11" name="agent-1-body">
            <a:extLst>
              <a:ext uri="{FF2B5EF4-FFF2-40B4-BE49-F238E27FC236}">
                <a16:creationId xmlns:a16="http://schemas.microsoft.com/office/drawing/2014/main" id="{40A2E530-326A-48DE-9521-2E3A13035DE8}"/>
              </a:ext>
            </a:extLst>
          </p:cNvPr>
          <p:cNvSpPr>
            <a:spLocks noGrp="1"/>
          </p:cNvSpPr>
          <p:nvPr/>
        </p:nvSpPr>
        <p:spPr>
          <a:xfrm>
            <a:off x="934749" y="2357148"/>
            <a:ext cx="1666875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buNone/>
              <a:defRPr sz="1425">
                <a:solidFill>
                  <a:srgbClr val="526974"/>
                </a:solidFill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使用者放開麥克風後，Android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App 將 WAV 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錄音送至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AI Box。</a:t>
            </a:r>
            <a:endParaRPr sz="1425" dirty="0">
              <a:solidFill>
                <a:srgbClr val="52697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agent-2-box">
            <a:extLst>
              <a:ext uri="{FF2B5EF4-FFF2-40B4-BE49-F238E27FC236}">
                <a16:creationId xmlns:a16="http://schemas.microsoft.com/office/drawing/2014/main" id="{8E0CA3CB-BCF1-48D2-A511-A0A308FE268B}"/>
              </a:ext>
            </a:extLst>
          </p:cNvPr>
          <p:cNvSpPr>
            <a:spLocks noGrp="1"/>
          </p:cNvSpPr>
          <p:nvPr/>
        </p:nvSpPr>
        <p:spPr>
          <a:xfrm>
            <a:off x="2914650" y="1719551"/>
            <a:ext cx="1809750" cy="1790700"/>
          </a:xfrm>
          <a:prstGeom prst="roundRect">
            <a:avLst>
              <a:gd name="adj" fmla="val 6383"/>
            </a:avLst>
          </a:prstGeom>
          <a:solidFill>
            <a:srgbClr val="EDF8F3"/>
          </a:solidFill>
          <a:ln w="11430">
            <a:solidFill>
              <a:srgbClr val="35A880"/>
            </a:solidFill>
            <a:prstDash val="solid"/>
          </a:ln>
        </p:spPr>
      </p:sp>
      <p:sp>
        <p:nvSpPr>
          <p:cNvPr id="13" name="agent-2-step">
            <a:extLst>
              <a:ext uri="{FF2B5EF4-FFF2-40B4-BE49-F238E27FC236}">
                <a16:creationId xmlns:a16="http://schemas.microsoft.com/office/drawing/2014/main" id="{C6057748-E014-49ED-A8B6-24508B5599F6}"/>
              </a:ext>
            </a:extLst>
          </p:cNvPr>
          <p:cNvSpPr>
            <a:spLocks noGrp="1"/>
          </p:cNvSpPr>
          <p:nvPr/>
        </p:nvSpPr>
        <p:spPr>
          <a:xfrm>
            <a:off x="3048000" y="1833851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35A880"/>
                </a:solidFill>
              </a:defRPr>
            </a:pPr>
            <a:r>
              <a:rPr sz="1350" b="1">
                <a:solidFill>
                  <a:srgbClr val="35A8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2</a:t>
            </a:r>
          </a:p>
        </p:txBody>
      </p:sp>
      <p:sp>
        <p:nvSpPr>
          <p:cNvPr id="14" name="agent-2-title">
            <a:extLst>
              <a:ext uri="{FF2B5EF4-FFF2-40B4-BE49-F238E27FC236}">
                <a16:creationId xmlns:a16="http://schemas.microsoft.com/office/drawing/2014/main" id="{F8A568FA-B666-4FCD-ABDE-D12DB09EFB70}"/>
              </a:ext>
            </a:extLst>
          </p:cNvPr>
          <p:cNvSpPr>
            <a:spLocks noGrp="1"/>
          </p:cNvSpPr>
          <p:nvPr/>
        </p:nvSpPr>
        <p:spPr>
          <a:xfrm>
            <a:off x="3390900" y="1814801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128"/>
          </a:bodyPr>
          <a:lstStyle/>
          <a:p>
            <a:pPr>
              <a:buNone/>
              <a:defRPr sz="1725" b="1">
                <a:solidFill>
                  <a:srgbClr val="173242"/>
                </a:solidFill>
              </a:defRPr>
            </a:pPr>
            <a:r>
              <a:rPr sz="1725" b="1" dirty="0">
                <a:solidFill>
                  <a:srgbClr val="17324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</a:t>
            </a:r>
            <a:r>
              <a:rPr sz="1725" b="1" dirty="0" err="1">
                <a:solidFill>
                  <a:srgbClr val="17324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/>
              </a:rPr>
              <a:t>處理語音</a:t>
            </a:r>
            <a:endParaRPr sz="1725" b="1" dirty="0">
              <a:solidFill>
                <a:srgbClr val="17324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DFKai-SB"/>
            </a:endParaRPr>
          </a:p>
        </p:txBody>
      </p:sp>
      <p:sp>
        <p:nvSpPr>
          <p:cNvPr id="15" name="agent-2-body">
            <a:extLst>
              <a:ext uri="{FF2B5EF4-FFF2-40B4-BE49-F238E27FC236}">
                <a16:creationId xmlns:a16="http://schemas.microsoft.com/office/drawing/2014/main" id="{D4E51ADB-39BA-47A9-BA32-D166A50249E0}"/>
              </a:ext>
            </a:extLst>
          </p:cNvPr>
          <p:cNvSpPr>
            <a:spLocks noGrp="1"/>
          </p:cNvSpPr>
          <p:nvPr/>
        </p:nvSpPr>
        <p:spPr>
          <a:xfrm>
            <a:off x="3114675" y="2333915"/>
            <a:ext cx="14668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buNone/>
              <a:defRPr sz="1425">
                <a:solidFill>
                  <a:srgbClr val="526974"/>
                </a:solidFill>
              </a:defRPr>
            </a:pPr>
            <a:r>
              <a:rPr sz="1600" dirty="0" err="1">
                <a:solidFill>
                  <a:srgbClr val="52697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/>
              </a:rPr>
              <a:t>轉成文字，抽取類別與條件</a:t>
            </a:r>
            <a:endParaRPr sz="1600" dirty="0">
              <a:solidFill>
                <a:srgbClr val="52697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DFKai-SB"/>
            </a:endParaRPr>
          </a:p>
        </p:txBody>
      </p:sp>
      <p:sp>
        <p:nvSpPr>
          <p:cNvPr id="16" name="agent-3-box">
            <a:extLst>
              <a:ext uri="{FF2B5EF4-FFF2-40B4-BE49-F238E27FC236}">
                <a16:creationId xmlns:a16="http://schemas.microsoft.com/office/drawing/2014/main" id="{D80F5428-BA95-4B31-8DC0-D0875F9A60CE}"/>
              </a:ext>
            </a:extLst>
          </p:cNvPr>
          <p:cNvSpPr>
            <a:spLocks noGrp="1"/>
          </p:cNvSpPr>
          <p:nvPr/>
        </p:nvSpPr>
        <p:spPr>
          <a:xfrm>
            <a:off x="5010150" y="1719551"/>
            <a:ext cx="1809750" cy="1790700"/>
          </a:xfrm>
          <a:prstGeom prst="roundRect">
            <a:avLst>
              <a:gd name="adj" fmla="val 6383"/>
            </a:avLst>
          </a:prstGeom>
          <a:solidFill>
            <a:srgbClr val="FFF6E8"/>
          </a:solidFill>
          <a:ln w="11430">
            <a:solidFill>
              <a:srgbClr val="E8A13A"/>
            </a:solidFill>
            <a:prstDash val="solid"/>
          </a:ln>
        </p:spPr>
      </p:sp>
      <p:sp>
        <p:nvSpPr>
          <p:cNvPr id="17" name="agent-3-step">
            <a:extLst>
              <a:ext uri="{FF2B5EF4-FFF2-40B4-BE49-F238E27FC236}">
                <a16:creationId xmlns:a16="http://schemas.microsoft.com/office/drawing/2014/main" id="{0C96AE54-2F7A-4456-B6AF-F2265F1CD36A}"/>
              </a:ext>
            </a:extLst>
          </p:cNvPr>
          <p:cNvSpPr>
            <a:spLocks noGrp="1"/>
          </p:cNvSpPr>
          <p:nvPr/>
        </p:nvSpPr>
        <p:spPr>
          <a:xfrm>
            <a:off x="5114925" y="1816387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E8A13A"/>
                </a:solidFill>
              </a:defRPr>
            </a:pPr>
            <a:r>
              <a:rPr sz="1350" b="1">
                <a:solidFill>
                  <a:srgbClr val="E8A1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3</a:t>
            </a:r>
          </a:p>
        </p:txBody>
      </p:sp>
      <p:sp>
        <p:nvSpPr>
          <p:cNvPr id="18" name="agent-3-title">
            <a:extLst>
              <a:ext uri="{FF2B5EF4-FFF2-40B4-BE49-F238E27FC236}">
                <a16:creationId xmlns:a16="http://schemas.microsoft.com/office/drawing/2014/main" id="{20DCDB75-C7E1-43E7-A39A-BB6A76F9A436}"/>
              </a:ext>
            </a:extLst>
          </p:cNvPr>
          <p:cNvSpPr>
            <a:spLocks noGrp="1"/>
          </p:cNvSpPr>
          <p:nvPr/>
        </p:nvSpPr>
        <p:spPr>
          <a:xfrm>
            <a:off x="5438775" y="1907267"/>
            <a:ext cx="108531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buNone/>
              <a:defRPr sz="1725" b="1">
                <a:solidFill>
                  <a:srgbClr val="173242"/>
                </a:solidFill>
              </a:defRPr>
            </a:pPr>
            <a:r>
              <a:rPr sz="1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搜尋與篩選地點</a:t>
            </a:r>
            <a:endParaRPr sz="1600" b="1" dirty="0">
              <a:solidFill>
                <a:srgbClr val="17324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DFKai-SB"/>
            </a:endParaRPr>
          </a:p>
        </p:txBody>
      </p:sp>
      <p:sp>
        <p:nvSpPr>
          <p:cNvPr id="19" name="agent-3-body">
            <a:extLst>
              <a:ext uri="{FF2B5EF4-FFF2-40B4-BE49-F238E27FC236}">
                <a16:creationId xmlns:a16="http://schemas.microsoft.com/office/drawing/2014/main" id="{391FFFC3-62A6-476F-9A44-8C608EBEA1BB}"/>
              </a:ext>
            </a:extLst>
          </p:cNvPr>
          <p:cNvSpPr>
            <a:spLocks noGrp="1"/>
          </p:cNvSpPr>
          <p:nvPr/>
        </p:nvSpPr>
        <p:spPr>
          <a:xfrm>
            <a:off x="5181600" y="2343438"/>
            <a:ext cx="14668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buNone/>
              <a:defRPr sz="1425">
                <a:solidFill>
                  <a:srgbClr val="526974"/>
                </a:solidFill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系統從離線地點資料庫搜尋，並依條件整理候選地點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。</a:t>
            </a:r>
            <a:endParaRPr sz="1400" dirty="0">
              <a:solidFill>
                <a:srgbClr val="52697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/>
            </a:endParaRPr>
          </a:p>
        </p:txBody>
      </p:sp>
      <p:sp>
        <p:nvSpPr>
          <p:cNvPr id="20" name="agent-4-box">
            <a:extLst>
              <a:ext uri="{FF2B5EF4-FFF2-40B4-BE49-F238E27FC236}">
                <a16:creationId xmlns:a16="http://schemas.microsoft.com/office/drawing/2014/main" id="{EF650BAD-E9D3-481A-B9CD-15B66269B73B}"/>
              </a:ext>
            </a:extLst>
          </p:cNvPr>
          <p:cNvSpPr>
            <a:spLocks noGrp="1"/>
          </p:cNvSpPr>
          <p:nvPr/>
        </p:nvSpPr>
        <p:spPr>
          <a:xfrm>
            <a:off x="7105650" y="1719551"/>
            <a:ext cx="1809750" cy="1790700"/>
          </a:xfrm>
          <a:prstGeom prst="roundRect">
            <a:avLst>
              <a:gd name="adj" fmla="val 6383"/>
            </a:avLst>
          </a:prstGeom>
          <a:solidFill>
            <a:srgbClr val="F2EFFE"/>
          </a:solidFill>
          <a:ln w="11430">
            <a:solidFill>
              <a:srgbClr val="7563CC"/>
            </a:solidFill>
            <a:prstDash val="solid"/>
          </a:ln>
        </p:spPr>
      </p:sp>
      <p:sp>
        <p:nvSpPr>
          <p:cNvPr id="21" name="agent-4-step">
            <a:extLst>
              <a:ext uri="{FF2B5EF4-FFF2-40B4-BE49-F238E27FC236}">
                <a16:creationId xmlns:a16="http://schemas.microsoft.com/office/drawing/2014/main" id="{107201E9-8560-4D51-A2D8-02E5F2A6E407}"/>
              </a:ext>
            </a:extLst>
          </p:cNvPr>
          <p:cNvSpPr>
            <a:spLocks noGrp="1"/>
          </p:cNvSpPr>
          <p:nvPr/>
        </p:nvSpPr>
        <p:spPr>
          <a:xfrm>
            <a:off x="7239000" y="1833851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7563CC"/>
                </a:solidFill>
              </a:defRPr>
            </a:pPr>
            <a:r>
              <a:rPr sz="1350" b="1">
                <a:solidFill>
                  <a:srgbClr val="7563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4</a:t>
            </a:r>
          </a:p>
        </p:txBody>
      </p:sp>
      <p:sp>
        <p:nvSpPr>
          <p:cNvPr id="22" name="agent-4-title">
            <a:extLst>
              <a:ext uri="{FF2B5EF4-FFF2-40B4-BE49-F238E27FC236}">
                <a16:creationId xmlns:a16="http://schemas.microsoft.com/office/drawing/2014/main" id="{45EE05E8-F21F-4B8A-884E-244414520359}"/>
              </a:ext>
            </a:extLst>
          </p:cNvPr>
          <p:cNvSpPr>
            <a:spLocks noGrp="1"/>
          </p:cNvSpPr>
          <p:nvPr/>
        </p:nvSpPr>
        <p:spPr>
          <a:xfrm>
            <a:off x="7524750" y="1814801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3824"/>
          </a:bodyPr>
          <a:lstStyle/>
          <a:p>
            <a:pPr>
              <a:buNone/>
              <a:defRPr sz="1725" b="1">
                <a:solidFill>
                  <a:srgbClr val="173242"/>
                </a:solidFill>
              </a:defRPr>
            </a:pPr>
            <a:r>
              <a:rPr sz="1725" b="1" dirty="0" err="1">
                <a:solidFill>
                  <a:srgbClr val="17324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/>
              </a:rPr>
              <a:t>回傳本地</a:t>
            </a:r>
            <a:r>
              <a:rPr sz="1725" b="1" dirty="0">
                <a:solidFill>
                  <a:srgbClr val="17324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UI</a:t>
            </a:r>
          </a:p>
        </p:txBody>
      </p:sp>
      <p:sp>
        <p:nvSpPr>
          <p:cNvPr id="23" name="agent-4-body">
            <a:extLst>
              <a:ext uri="{FF2B5EF4-FFF2-40B4-BE49-F238E27FC236}">
                <a16:creationId xmlns:a16="http://schemas.microsoft.com/office/drawing/2014/main" id="{97E60BA9-CA2B-4FD3-84B1-06082063034A}"/>
              </a:ext>
            </a:extLst>
          </p:cNvPr>
          <p:cNvSpPr>
            <a:spLocks noGrp="1"/>
          </p:cNvSpPr>
          <p:nvPr/>
        </p:nvSpPr>
        <p:spPr>
          <a:xfrm>
            <a:off x="7277100" y="2300286"/>
            <a:ext cx="14668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buNone/>
              <a:defRPr sz="1425">
                <a:solidFill>
                  <a:srgbClr val="526974"/>
                </a:solidFill>
              </a:defRPr>
            </a:pPr>
            <a:r>
              <a:rPr sz="1425">
                <a:solidFill>
                  <a:srgbClr val="52697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HTTP </a:t>
            </a:r>
            <a:r>
              <a:rPr sz="1425">
                <a:solidFill>
                  <a:srgbClr val="52697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/>
              </a:rPr>
              <a:t>與</a:t>
            </a:r>
            <a:r>
              <a:rPr sz="1425">
                <a:solidFill>
                  <a:srgbClr val="52697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 WebSocket </a:t>
            </a:r>
            <a:r>
              <a:rPr sz="1425">
                <a:solidFill>
                  <a:srgbClr val="52697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DFKai-SB"/>
              </a:rPr>
              <a:t>都可帶回當前結果</a:t>
            </a:r>
          </a:p>
        </p:txBody>
      </p:sp>
      <p:sp>
        <p:nvSpPr>
          <p:cNvPr id="24" name="agent-5-box">
            <a:extLst>
              <a:ext uri="{FF2B5EF4-FFF2-40B4-BE49-F238E27FC236}">
                <a16:creationId xmlns:a16="http://schemas.microsoft.com/office/drawing/2014/main" id="{40F0A9C8-2FC0-4144-B38B-3688E243FADF}"/>
              </a:ext>
            </a:extLst>
          </p:cNvPr>
          <p:cNvSpPr>
            <a:spLocks noGrp="1"/>
          </p:cNvSpPr>
          <p:nvPr/>
        </p:nvSpPr>
        <p:spPr>
          <a:xfrm>
            <a:off x="9201150" y="1719551"/>
            <a:ext cx="1809750" cy="1790700"/>
          </a:xfrm>
          <a:prstGeom prst="roundRect">
            <a:avLst>
              <a:gd name="adj" fmla="val 6383"/>
            </a:avLst>
          </a:prstGeom>
          <a:solidFill>
            <a:srgbClr val="FFF0F1"/>
          </a:solidFill>
          <a:ln w="11430">
            <a:solidFill>
              <a:srgbClr val="C95E66"/>
            </a:solidFill>
            <a:prstDash val="solid"/>
          </a:ln>
        </p:spPr>
      </p:sp>
      <p:sp>
        <p:nvSpPr>
          <p:cNvPr id="25" name="agent-5-step">
            <a:extLst>
              <a:ext uri="{FF2B5EF4-FFF2-40B4-BE49-F238E27FC236}">
                <a16:creationId xmlns:a16="http://schemas.microsoft.com/office/drawing/2014/main" id="{04D79ABE-EB0D-497A-81C3-37E6C801B81A}"/>
              </a:ext>
            </a:extLst>
          </p:cNvPr>
          <p:cNvSpPr>
            <a:spLocks noGrp="1"/>
          </p:cNvSpPr>
          <p:nvPr/>
        </p:nvSpPr>
        <p:spPr>
          <a:xfrm>
            <a:off x="9255990" y="1833851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350" b="1">
                <a:solidFill>
                  <a:srgbClr val="C95E66"/>
                </a:solidFill>
              </a:defRPr>
            </a:pPr>
            <a:r>
              <a:rPr sz="1350" b="1">
                <a:solidFill>
                  <a:srgbClr val="C95E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5</a:t>
            </a:r>
          </a:p>
        </p:txBody>
      </p:sp>
      <p:sp>
        <p:nvSpPr>
          <p:cNvPr id="26" name="agent-5-title">
            <a:extLst>
              <a:ext uri="{FF2B5EF4-FFF2-40B4-BE49-F238E27FC236}">
                <a16:creationId xmlns:a16="http://schemas.microsoft.com/office/drawing/2014/main" id="{87802D35-5BAB-4B27-ABAE-550E774A1FAB}"/>
              </a:ext>
            </a:extLst>
          </p:cNvPr>
          <p:cNvSpPr>
            <a:spLocks noGrp="1"/>
          </p:cNvSpPr>
          <p:nvPr/>
        </p:nvSpPr>
        <p:spPr>
          <a:xfrm>
            <a:off x="9595427" y="1833851"/>
            <a:ext cx="124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2724"/>
          </a:bodyPr>
          <a:lstStyle/>
          <a:p>
            <a:pPr>
              <a:buNone/>
              <a:defRPr sz="1725" b="1">
                <a:solidFill>
                  <a:srgbClr val="173242"/>
                </a:solidFill>
              </a:defRPr>
            </a:pPr>
            <a:r>
              <a:rPr sz="1725" b="1" dirty="0" err="1">
                <a:solidFill>
                  <a:srgbClr val="17324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雲端</a:t>
            </a:r>
            <a:r>
              <a:rPr lang="en-US" sz="1725" b="1" dirty="0" err="1">
                <a:solidFill>
                  <a:srgbClr val="17324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AI</a:t>
            </a:r>
            <a:r>
              <a:rPr sz="1725" b="1" dirty="0" err="1">
                <a:solidFill>
                  <a:srgbClr val="17324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分析</a:t>
            </a:r>
            <a:endParaRPr sz="1725" b="1" dirty="0">
              <a:solidFill>
                <a:srgbClr val="17324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/>
            </a:endParaRPr>
          </a:p>
        </p:txBody>
      </p:sp>
      <p:sp>
        <p:nvSpPr>
          <p:cNvPr id="27" name="agent-5-body">
            <a:extLst>
              <a:ext uri="{FF2B5EF4-FFF2-40B4-BE49-F238E27FC236}">
                <a16:creationId xmlns:a16="http://schemas.microsoft.com/office/drawing/2014/main" id="{3BAB3FA0-2F3C-4375-AD4F-38C389FE7056}"/>
              </a:ext>
            </a:extLst>
          </p:cNvPr>
          <p:cNvSpPr>
            <a:spLocks noGrp="1"/>
          </p:cNvSpPr>
          <p:nvPr/>
        </p:nvSpPr>
        <p:spPr>
          <a:xfrm>
            <a:off x="9373177" y="2357148"/>
            <a:ext cx="14668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buNone/>
              <a:defRPr sz="1425">
                <a:solidFill>
                  <a:srgbClr val="526974"/>
                </a:solidFill>
              </a:defRPr>
            </a:pP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連網時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雲端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ai</a:t>
            </a:r>
            <a:r>
              <a:rPr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比較候選地點並產生簡短的推薦說明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sz="1425" dirty="0">
              <a:solidFill>
                <a:srgbClr val="52697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agent-arrow-260">
            <a:extLst>
              <a:ext uri="{FF2B5EF4-FFF2-40B4-BE49-F238E27FC236}">
                <a16:creationId xmlns:a16="http://schemas.microsoft.com/office/drawing/2014/main" id="{2A397735-77DE-478D-8321-343F829AFAA8}"/>
              </a:ext>
            </a:extLst>
          </p:cNvPr>
          <p:cNvSpPr>
            <a:spLocks noGrp="1"/>
          </p:cNvSpPr>
          <p:nvPr/>
        </p:nvSpPr>
        <p:spPr>
          <a:xfrm>
            <a:off x="2676237" y="2510126"/>
            <a:ext cx="266700" cy="190500"/>
          </a:xfrm>
          <a:prstGeom prst="rightArrow">
            <a:avLst/>
          </a:prstGeom>
          <a:solidFill>
            <a:srgbClr val="9AB2BD"/>
          </a:solidFill>
          <a:ln w="7620">
            <a:solidFill>
              <a:srgbClr val="9AB2BD"/>
            </a:solidFill>
            <a:prstDash val="solid"/>
          </a:ln>
        </p:spPr>
      </p:sp>
      <p:sp>
        <p:nvSpPr>
          <p:cNvPr id="29" name="agent-arrow-480">
            <a:extLst>
              <a:ext uri="{FF2B5EF4-FFF2-40B4-BE49-F238E27FC236}">
                <a16:creationId xmlns:a16="http://schemas.microsoft.com/office/drawing/2014/main" id="{07881F37-A97D-4277-9DF6-52F8F92BEB4E}"/>
              </a:ext>
            </a:extLst>
          </p:cNvPr>
          <p:cNvSpPr>
            <a:spLocks noGrp="1"/>
          </p:cNvSpPr>
          <p:nvPr/>
        </p:nvSpPr>
        <p:spPr>
          <a:xfrm>
            <a:off x="4724400" y="2510126"/>
            <a:ext cx="266700" cy="190500"/>
          </a:xfrm>
          <a:prstGeom prst="rightArrow">
            <a:avLst/>
          </a:prstGeom>
          <a:solidFill>
            <a:srgbClr val="9AB2BD"/>
          </a:solidFill>
          <a:ln w="7620">
            <a:solidFill>
              <a:srgbClr val="9AB2BD"/>
            </a:solidFill>
            <a:prstDash val="solid"/>
          </a:ln>
        </p:spPr>
      </p:sp>
      <p:sp>
        <p:nvSpPr>
          <p:cNvPr id="30" name="agent-arrow-700">
            <a:extLst>
              <a:ext uri="{FF2B5EF4-FFF2-40B4-BE49-F238E27FC236}">
                <a16:creationId xmlns:a16="http://schemas.microsoft.com/office/drawing/2014/main" id="{B8677908-743A-43B7-8151-DB0F8091E210}"/>
              </a:ext>
            </a:extLst>
          </p:cNvPr>
          <p:cNvSpPr>
            <a:spLocks noGrp="1"/>
          </p:cNvSpPr>
          <p:nvPr/>
        </p:nvSpPr>
        <p:spPr>
          <a:xfrm>
            <a:off x="6819900" y="2510126"/>
            <a:ext cx="266700" cy="190500"/>
          </a:xfrm>
          <a:prstGeom prst="rightArrow">
            <a:avLst/>
          </a:prstGeom>
          <a:solidFill>
            <a:srgbClr val="9AB2BD"/>
          </a:solidFill>
          <a:ln w="7620">
            <a:solidFill>
              <a:srgbClr val="9AB2BD"/>
            </a:solidFill>
            <a:prstDash val="solid"/>
          </a:ln>
        </p:spPr>
      </p:sp>
      <p:sp>
        <p:nvSpPr>
          <p:cNvPr id="31" name="agent-arrow-920">
            <a:extLst>
              <a:ext uri="{FF2B5EF4-FFF2-40B4-BE49-F238E27FC236}">
                <a16:creationId xmlns:a16="http://schemas.microsoft.com/office/drawing/2014/main" id="{F763B826-FA7C-45C4-B59D-8585CB918F34}"/>
              </a:ext>
            </a:extLst>
          </p:cNvPr>
          <p:cNvSpPr>
            <a:spLocks noGrp="1"/>
          </p:cNvSpPr>
          <p:nvPr/>
        </p:nvSpPr>
        <p:spPr>
          <a:xfrm>
            <a:off x="8915400" y="2510126"/>
            <a:ext cx="266700" cy="190500"/>
          </a:xfrm>
          <a:prstGeom prst="rightArrow">
            <a:avLst/>
          </a:prstGeom>
          <a:solidFill>
            <a:srgbClr val="9AB2BD"/>
          </a:solidFill>
          <a:ln w="7620">
            <a:solidFill>
              <a:srgbClr val="9AB2BD"/>
            </a:solidFill>
            <a:prstDash val="solid"/>
          </a:ln>
        </p:spPr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56A7525-15DF-4076-A6E4-0D7E55F0528D}"/>
              </a:ext>
            </a:extLst>
          </p:cNvPr>
          <p:cNvSpPr>
            <a:spLocks noGrp="1"/>
          </p:cNvSpPr>
          <p:nvPr/>
        </p:nvSpPr>
        <p:spPr>
          <a:xfrm>
            <a:off x="1669618" y="4447413"/>
            <a:ext cx="83540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使用者只需說出需求，系統即可完成地點搜尋並呈現候選結果。斷網時保留基本查詢，連網時再補充推薦理由</a:t>
            </a:r>
            <a:r>
              <a:rPr sz="2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。</a:t>
            </a:r>
          </a:p>
        </p:txBody>
      </p:sp>
      <p:sp>
        <p:nvSpPr>
          <p:cNvPr id="7" name="頁碼">
            <a:extLst>
              <a:ext uri="{FF2B5EF4-FFF2-40B4-BE49-F238E27FC236}">
                <a16:creationId xmlns:a16="http://schemas.microsoft.com/office/drawing/2014/main" id="{6263F2E5-3F6A-8BD6-C752-6C6FEE691EB1}"/>
              </a:ext>
            </a:extLst>
          </p:cNvPr>
          <p:cNvSpPr txBox="1"/>
          <p:nvPr/>
        </p:nvSpPr>
        <p:spPr>
          <a:xfrm>
            <a:off x="11010900" y="6451600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altLang="zh-TW" sz="1200" b="1" dirty="0">
                <a:solidFill>
                  <a:srgbClr val="1F3524"/>
                </a:solidFill>
                <a:latin typeface="微軟正黑體"/>
                <a:ea typeface="微軟正黑體"/>
                <a:cs typeface="微軟正黑體"/>
              </a:rPr>
              <a:t>03</a:t>
            </a:r>
            <a:endParaRPr lang="zh-TW" sz="1200" b="1" dirty="0">
              <a:solidFill>
                <a:srgbClr val="1F3524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63848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直線接點 40">
            <a:extLst>
              <a:ext uri="{FF2B5EF4-FFF2-40B4-BE49-F238E27FC236}">
                <a16:creationId xmlns:a16="http://schemas.microsoft.com/office/drawing/2014/main" id="{AE18116E-63E6-4877-8B53-7B5A3D3338E2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11125200" cy="0"/>
          </a:xfrm>
          <a:prstGeom prst="line">
            <a:avLst/>
          </a:prstGeom>
          <a:noFill/>
          <a:ln w="11430">
            <a:solidFill>
              <a:srgbClr val="B8CAD4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685759-FA4D-4105-9F36-8B80DECC7ACC}"/>
              </a:ext>
            </a:extLst>
          </p:cNvPr>
          <p:cNvSpPr>
            <a:spLocks noGrp="1"/>
          </p:cNvSpPr>
          <p:nvPr/>
        </p:nvSpPr>
        <p:spPr>
          <a:xfrm>
            <a:off x="552450" y="257175"/>
            <a:ext cx="8572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47625" tIns="19050" rIns="47625" bIns="19050" anchor="t">
            <a:noAutofit/>
          </a:bodyPr>
          <a:lstStyle/>
          <a:p>
            <a:pPr algn="l">
              <a:lnSpc>
                <a:spcPct val="105000"/>
              </a:lnSpc>
              <a:buNone/>
              <a:defRPr sz="2850">
                <a:solidFill>
                  <a:srgbClr val="102A3A"/>
                </a:solidFill>
              </a:defRPr>
            </a:pPr>
            <a:r>
              <a:rPr sz="2850" b="1" dirty="0" err="1">
                <a:solidFill>
                  <a:srgbClr val="102A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未來展望</a:t>
            </a:r>
            <a:endParaRPr sz="2850" b="1" dirty="0">
              <a:solidFill>
                <a:srgbClr val="102A3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5A9B35-DA27-43FE-967D-5F9659B445A5}"/>
              </a:ext>
            </a:extLst>
          </p:cNvPr>
          <p:cNvSpPr>
            <a:spLocks noGrp="1"/>
          </p:cNvSpPr>
          <p:nvPr/>
        </p:nvSpPr>
        <p:spPr>
          <a:xfrm>
            <a:off x="9191625" y="361950"/>
            <a:ext cx="2428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47625" tIns="19050" rIns="47625" bIns="19050" anchor="t">
            <a:noAutofit/>
          </a:bodyPr>
          <a:lstStyle/>
          <a:p>
            <a:pPr algn="r">
              <a:lnSpc>
                <a:spcPct val="105000"/>
              </a:lnSpc>
              <a:buNone/>
              <a:defRPr sz="1350">
                <a:solidFill>
                  <a:srgbClr val="00A7C7"/>
                </a:solidFill>
              </a:defRPr>
            </a:pPr>
            <a:r>
              <a:rPr sz="1350" b="1">
                <a:solidFill>
                  <a:srgbClr val="00A7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/>
              </a:rPr>
              <a:t>低成本情境式 AI 座艙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B361FEB7-F9DF-4669-83A4-87A6C85B9147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0"/>
          </a:xfrm>
          <a:prstGeom prst="line">
            <a:avLst/>
          </a:prstGeom>
          <a:noFill/>
          <a:ln w="9525">
            <a:solidFill>
              <a:srgbClr val="B8CAD4"/>
            </a:solidFill>
            <a:prstDash val="solid"/>
          </a:ln>
        </p:spPr>
      </p:sp>
      <p:sp>
        <p:nvSpPr>
          <p:cNvPr id="60" name="強調線"/>
          <p:cNvSpPr/>
          <p:nvPr/>
        </p:nvSpPr>
        <p:spPr>
          <a:xfrm>
            <a:off x="558800" y="1117600"/>
            <a:ext cx="76200" cy="660400"/>
          </a:xfrm>
          <a:prstGeom prst="rect">
            <a:avLst/>
          </a:prstGeom>
          <a:solidFill>
            <a:srgbClr val="00A7C7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61" name="核心主張"/>
          <p:cNvSpPr txBox="1"/>
          <p:nvPr/>
        </p:nvSpPr>
        <p:spPr>
          <a:xfrm>
            <a:off x="812800" y="1092200"/>
            <a:ext cx="104140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sz="3600" b="1" dirty="0">
                <a:solidFill>
                  <a:srgbClr val="102A3A"/>
                </a:solidFill>
                <a:latin typeface="微軟正黑體"/>
                <a:ea typeface="微軟正黑體"/>
                <a:cs typeface="微軟正黑體"/>
              </a:rPr>
              <a:t>低成本實現情境式 AI</a:t>
            </a:r>
          </a:p>
        </p:txBody>
      </p:sp>
      <p:sp>
        <p:nvSpPr>
          <p:cNvPr id="62" name="卡片-市場現實"/>
          <p:cNvSpPr/>
          <p:nvPr/>
        </p:nvSpPr>
        <p:spPr>
          <a:xfrm>
            <a:off x="558800" y="2413000"/>
            <a:ext cx="33020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0A7C7"/>
            </a:solidFill>
          </a:ln>
        </p:spPr>
        <p:txBody>
          <a:bodyPr/>
          <a:lstStyle/>
          <a:p>
            <a:endParaRPr lang="zh-TW"/>
          </a:p>
        </p:txBody>
      </p:sp>
      <p:sp>
        <p:nvSpPr>
          <p:cNvPr id="63" name="卡片標題-市場現實"/>
          <p:cNvSpPr txBox="1"/>
          <p:nvPr/>
        </p:nvSpPr>
        <p:spPr>
          <a:xfrm>
            <a:off x="812800" y="2692400"/>
            <a:ext cx="2794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sz="2200" b="1" dirty="0">
                <a:solidFill>
                  <a:srgbClr val="00A7C7"/>
                </a:solidFill>
                <a:latin typeface="微軟正黑體"/>
                <a:ea typeface="微軟正黑體"/>
                <a:cs typeface="微軟正黑體"/>
              </a:rPr>
              <a:t>市場現實</a:t>
            </a:r>
          </a:p>
        </p:txBody>
      </p:sp>
      <p:sp>
        <p:nvSpPr>
          <p:cNvPr id="64" name="卡片分隔-市場現實"/>
          <p:cNvSpPr/>
          <p:nvPr/>
        </p:nvSpPr>
        <p:spPr>
          <a:xfrm>
            <a:off x="812800" y="3251200"/>
            <a:ext cx="609600" cy="38100"/>
          </a:xfrm>
          <a:prstGeom prst="rect">
            <a:avLst/>
          </a:prstGeom>
          <a:solidFill>
            <a:srgbClr val="00A7C7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65" name="卡片重點-市場現實"/>
          <p:cNvSpPr txBox="1"/>
          <p:nvPr/>
        </p:nvSpPr>
        <p:spPr>
          <a:xfrm>
            <a:off x="812800" y="3530600"/>
            <a:ext cx="2794000" cy="965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sz="2200" b="1" dirty="0">
                <a:solidFill>
                  <a:srgbClr val="102A3A"/>
                </a:solidFill>
                <a:latin typeface="微軟正黑體"/>
                <a:ea typeface="微軟正黑體"/>
                <a:cs typeface="微軟正黑體"/>
              </a:rPr>
              <a:t>大眾偏好低價車款</a:t>
            </a:r>
          </a:p>
        </p:txBody>
      </p:sp>
      <p:sp>
        <p:nvSpPr>
          <p:cNvPr id="66" name="卡片說明-市場現實"/>
          <p:cNvSpPr txBox="1"/>
          <p:nvPr/>
        </p:nvSpPr>
        <p:spPr>
          <a:xfrm>
            <a:off x="812800" y="4546600"/>
            <a:ext cx="2794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sz="1800" b="0" dirty="0">
                <a:solidFill>
                  <a:srgbClr val="2A3842"/>
                </a:solidFill>
                <a:latin typeface="微軟正黑體"/>
                <a:ea typeface="微軟正黑體"/>
                <a:cs typeface="微軟正黑體"/>
              </a:rPr>
              <a:t>AI 座艙多見於豪華車款</a:t>
            </a:r>
          </a:p>
        </p:txBody>
      </p:sp>
      <p:sp>
        <p:nvSpPr>
          <p:cNvPr id="67" name="卡片-設計理念"/>
          <p:cNvSpPr/>
          <p:nvPr/>
        </p:nvSpPr>
        <p:spPr>
          <a:xfrm>
            <a:off x="4445000" y="2413000"/>
            <a:ext cx="33020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6B5BC4"/>
            </a:solidFill>
          </a:ln>
        </p:spPr>
        <p:txBody>
          <a:bodyPr/>
          <a:lstStyle/>
          <a:p>
            <a:endParaRPr lang="zh-TW"/>
          </a:p>
        </p:txBody>
      </p:sp>
      <p:sp>
        <p:nvSpPr>
          <p:cNvPr id="68" name="卡片標題-設計理念"/>
          <p:cNvSpPr txBox="1"/>
          <p:nvPr/>
        </p:nvSpPr>
        <p:spPr>
          <a:xfrm>
            <a:off x="4699000" y="2692400"/>
            <a:ext cx="2794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sz="2200" b="1" dirty="0">
                <a:solidFill>
                  <a:srgbClr val="6B5BC4"/>
                </a:solidFill>
                <a:latin typeface="微軟正黑體"/>
                <a:ea typeface="微軟正黑體"/>
                <a:cs typeface="微軟正黑體"/>
              </a:rPr>
              <a:t>設計理念</a:t>
            </a:r>
          </a:p>
        </p:txBody>
      </p:sp>
      <p:sp>
        <p:nvSpPr>
          <p:cNvPr id="69" name="卡片分隔-設計理念"/>
          <p:cNvSpPr/>
          <p:nvPr/>
        </p:nvSpPr>
        <p:spPr>
          <a:xfrm>
            <a:off x="4699000" y="3251200"/>
            <a:ext cx="609600" cy="38100"/>
          </a:xfrm>
          <a:prstGeom prst="rect">
            <a:avLst/>
          </a:prstGeom>
          <a:solidFill>
            <a:srgbClr val="6B5BC4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70" name="卡片重點-設計理念"/>
          <p:cNvSpPr txBox="1"/>
          <p:nvPr/>
        </p:nvSpPr>
        <p:spPr>
          <a:xfrm>
            <a:off x="4699000" y="3530600"/>
            <a:ext cx="2794000" cy="965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sz="2200" b="1" dirty="0">
                <a:solidFill>
                  <a:srgbClr val="102A3A"/>
                </a:solidFill>
                <a:latin typeface="微軟正黑體"/>
                <a:ea typeface="微軟正黑體"/>
                <a:cs typeface="微軟正黑體"/>
              </a:rPr>
              <a:t>低成本實現情境式 AI</a:t>
            </a:r>
          </a:p>
        </p:txBody>
      </p:sp>
      <p:sp>
        <p:nvSpPr>
          <p:cNvPr id="71" name="卡片說明-設計理念"/>
          <p:cNvSpPr txBox="1"/>
          <p:nvPr/>
        </p:nvSpPr>
        <p:spPr>
          <a:xfrm>
            <a:off x="4699000" y="4546600"/>
            <a:ext cx="2794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sz="1800" b="0" dirty="0">
                <a:solidFill>
                  <a:srgbClr val="2A3842"/>
                </a:solidFill>
                <a:latin typeface="微軟正黑體"/>
                <a:ea typeface="微軟正黑體"/>
                <a:cs typeface="微軟正黑體"/>
              </a:rPr>
              <a:t>Android 平板搭配 AI Box，連網與離線並用</a:t>
            </a:r>
          </a:p>
        </p:txBody>
      </p:sp>
      <p:sp>
        <p:nvSpPr>
          <p:cNvPr id="72" name="卡片-未來目標"/>
          <p:cNvSpPr/>
          <p:nvPr/>
        </p:nvSpPr>
        <p:spPr>
          <a:xfrm>
            <a:off x="8331200" y="2413000"/>
            <a:ext cx="3302000" cy="3429000"/>
          </a:xfrm>
          <a:prstGeom prst="roundRect">
            <a:avLst>
              <a:gd name="adj" fmla="val 6000"/>
            </a:avLst>
          </a:prstGeom>
          <a:solidFill>
            <a:srgbClr val="E3F4EC"/>
          </a:solidFill>
          <a:ln w="15240">
            <a:solidFill>
              <a:srgbClr val="2FA37A"/>
            </a:solidFill>
          </a:ln>
        </p:spPr>
        <p:txBody>
          <a:bodyPr/>
          <a:lstStyle/>
          <a:p>
            <a:endParaRPr lang="zh-TW"/>
          </a:p>
        </p:txBody>
      </p:sp>
      <p:sp>
        <p:nvSpPr>
          <p:cNvPr id="73" name="卡片標題-未來目標"/>
          <p:cNvSpPr txBox="1"/>
          <p:nvPr/>
        </p:nvSpPr>
        <p:spPr>
          <a:xfrm>
            <a:off x="8585200" y="2692400"/>
            <a:ext cx="27940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sz="2200" b="1" dirty="0">
                <a:solidFill>
                  <a:srgbClr val="2FA37A"/>
                </a:solidFill>
                <a:latin typeface="微軟正黑體"/>
                <a:ea typeface="微軟正黑體"/>
                <a:cs typeface="微軟正黑體"/>
              </a:rPr>
              <a:t>未來目標</a:t>
            </a:r>
          </a:p>
        </p:txBody>
      </p:sp>
      <p:sp>
        <p:nvSpPr>
          <p:cNvPr id="74" name="卡片分隔-未來目標"/>
          <p:cNvSpPr/>
          <p:nvPr/>
        </p:nvSpPr>
        <p:spPr>
          <a:xfrm>
            <a:off x="8585200" y="3251200"/>
            <a:ext cx="609600" cy="38100"/>
          </a:xfrm>
          <a:prstGeom prst="rect">
            <a:avLst/>
          </a:prstGeom>
          <a:solidFill>
            <a:srgbClr val="2FA37A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75" name="卡片重點-未來目標"/>
          <p:cNvSpPr txBox="1"/>
          <p:nvPr/>
        </p:nvSpPr>
        <p:spPr>
          <a:xfrm>
            <a:off x="8585200" y="3530600"/>
            <a:ext cx="2794000" cy="965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sz="2200" b="1" dirty="0">
                <a:solidFill>
                  <a:srgbClr val="102A3A"/>
                </a:solidFill>
                <a:latin typeface="微軟正黑體"/>
                <a:ea typeface="微軟正黑體"/>
                <a:cs typeface="微軟正黑體"/>
              </a:rPr>
              <a:t>國民車也有 AI 座艙</a:t>
            </a:r>
          </a:p>
        </p:txBody>
      </p:sp>
      <p:sp>
        <p:nvSpPr>
          <p:cNvPr id="76" name="卡片說明-未來目標"/>
          <p:cNvSpPr txBox="1"/>
          <p:nvPr/>
        </p:nvSpPr>
        <p:spPr>
          <a:xfrm>
            <a:off x="8585200" y="4546600"/>
            <a:ext cx="2794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sz="1800" b="0" dirty="0">
                <a:solidFill>
                  <a:srgbClr val="2A3842"/>
                </a:solidFill>
                <a:latin typeface="微軟正黑體"/>
                <a:ea typeface="微軟正黑體"/>
                <a:cs typeface="微軟正黑體"/>
              </a:rPr>
              <a:t>不再是豪華車的專屬配備</a:t>
            </a:r>
          </a:p>
        </p:txBody>
      </p:sp>
      <p:sp>
        <p:nvSpPr>
          <p:cNvPr id="77" name="箭頭"/>
          <p:cNvSpPr/>
          <p:nvPr/>
        </p:nvSpPr>
        <p:spPr>
          <a:xfrm>
            <a:off x="3962400" y="3962400"/>
            <a:ext cx="381000" cy="330200"/>
          </a:xfrm>
          <a:prstGeom prst="rightArrow">
            <a:avLst/>
          </a:prstGeom>
          <a:solidFill>
            <a:srgbClr val="B8C4CC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78" name="箭頭"/>
          <p:cNvSpPr/>
          <p:nvPr/>
        </p:nvSpPr>
        <p:spPr>
          <a:xfrm>
            <a:off x="7848600" y="3962400"/>
            <a:ext cx="381000" cy="330200"/>
          </a:xfrm>
          <a:prstGeom prst="rightArrow">
            <a:avLst/>
          </a:prstGeom>
          <a:solidFill>
            <a:srgbClr val="B8C4CC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7" name="頁碼">
            <a:extLst>
              <a:ext uri="{FF2B5EF4-FFF2-40B4-BE49-F238E27FC236}">
                <a16:creationId xmlns:a16="http://schemas.microsoft.com/office/drawing/2014/main" id="{3B983E3B-BCF8-7053-00C8-EF8CEAAAFC55}"/>
              </a:ext>
            </a:extLst>
          </p:cNvPr>
          <p:cNvSpPr txBox="1"/>
          <p:nvPr/>
        </p:nvSpPr>
        <p:spPr>
          <a:xfrm>
            <a:off x="11010900" y="6451600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buNone/>
            </a:pPr>
            <a:r>
              <a:rPr lang="en-US" altLang="zh-TW" sz="1200" b="1" dirty="0">
                <a:solidFill>
                  <a:srgbClr val="1F3524"/>
                </a:solidFill>
                <a:latin typeface="微軟正黑體"/>
                <a:ea typeface="微軟正黑體"/>
                <a:cs typeface="微軟正黑體"/>
              </a:rPr>
              <a:t>04</a:t>
            </a:r>
            <a:endParaRPr lang="zh-TW" sz="1200" b="1" dirty="0">
              <a:solidFill>
                <a:srgbClr val="1F3524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12105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F8EC"/>
            </a:gs>
            <a:gs pos="100000">
              <a:srgbClr val="E6F0E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太陽光暈"/>
          <p:cNvSpPr/>
          <p:nvPr/>
        </p:nvSpPr>
        <p:spPr>
          <a:xfrm>
            <a:off x="8763000" y="508000"/>
            <a:ext cx="2540000" cy="2540000"/>
          </a:xfrm>
          <a:prstGeom prst="ellipse">
            <a:avLst/>
          </a:prstGeom>
          <a:solidFill>
            <a:srgbClr val="F6E3A8">
              <a:alpha val="45000"/>
            </a:srgbClr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1" name="太陽"/>
          <p:cNvSpPr/>
          <p:nvPr/>
        </p:nvSpPr>
        <p:spPr>
          <a:xfrm>
            <a:off x="9207500" y="952500"/>
            <a:ext cx="1651000" cy="1651000"/>
          </a:xfrm>
          <a:prstGeom prst="ellipse">
            <a:avLst/>
          </a:prstGeom>
          <a:solidFill>
            <a:srgbClr val="F2CF73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2" name="雲1"/>
          <p:cNvSpPr/>
          <p:nvPr/>
        </p:nvSpPr>
        <p:spPr>
          <a:xfrm>
            <a:off x="7493000" y="17780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3" name="雲2"/>
          <p:cNvSpPr/>
          <p:nvPr/>
        </p:nvSpPr>
        <p:spPr>
          <a:xfrm>
            <a:off x="7874000" y="1524000"/>
            <a:ext cx="88900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4" name="雲3"/>
          <p:cNvSpPr/>
          <p:nvPr/>
        </p:nvSpPr>
        <p:spPr>
          <a:xfrm>
            <a:off x="10668000" y="2921000"/>
            <a:ext cx="1143000" cy="25400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5" name="遠山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960" h="540">
                <a:moveTo>
                  <a:pt x="0" y="410"/>
                </a:moveTo>
                <a:cubicBezTo>
                  <a:pt x="150" y="360"/>
                  <a:pt x="300" y="350"/>
                  <a:pt x="450" y="380"/>
                </a:cubicBezTo>
                <a:cubicBezTo>
                  <a:pt x="600" y="410"/>
                  <a:pt x="720" y="320"/>
                  <a:pt x="960" y="340"/>
                </a:cubicBezTo>
                <a:lnTo>
                  <a:pt x="960" y="540"/>
                </a:lnTo>
                <a:lnTo>
                  <a:pt x="0" y="540"/>
                </a:lnTo>
                <a:close/>
              </a:path>
            </a:pathLst>
          </a:custGeom>
          <a:solidFill>
            <a:srgbClr val="CFE0BF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6" name="中丘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960" h="540">
                <a:moveTo>
                  <a:pt x="0" y="452"/>
                </a:moveTo>
                <a:cubicBezTo>
                  <a:pt x="180" y="402"/>
                  <a:pt x="360" y="422"/>
                  <a:pt x="540" y="442"/>
                </a:cubicBezTo>
                <a:cubicBezTo>
                  <a:pt x="700" y="460"/>
                  <a:pt x="820" y="402"/>
                  <a:pt x="960" y="412"/>
                </a:cubicBezTo>
                <a:lnTo>
                  <a:pt x="960" y="540"/>
                </a:lnTo>
                <a:lnTo>
                  <a:pt x="0" y="540"/>
                </a:lnTo>
                <a:close/>
              </a:path>
            </a:pathLst>
          </a:custGeom>
          <a:solidFill>
            <a:srgbClr val="A9C99A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7" name="樹幹1"/>
          <p:cNvSpPr/>
          <p:nvPr/>
        </p:nvSpPr>
        <p:spPr>
          <a:xfrm>
            <a:off x="10121900" y="5054600"/>
            <a:ext cx="76200" cy="355600"/>
          </a:xfrm>
          <a:prstGeom prst="rect">
            <a:avLst/>
          </a:prstGeom>
          <a:solidFill>
            <a:srgbClr val="7A6248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8" name="樹冠1"/>
          <p:cNvSpPr/>
          <p:nvPr/>
        </p:nvSpPr>
        <p:spPr>
          <a:xfrm>
            <a:off x="9880600" y="4445000"/>
            <a:ext cx="558800" cy="711200"/>
          </a:xfrm>
          <a:prstGeom prst="ellipse">
            <a:avLst/>
          </a:prstGeom>
          <a:solidFill>
            <a:srgbClr val="5F9060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9" name="樹幹2"/>
          <p:cNvSpPr/>
          <p:nvPr/>
        </p:nvSpPr>
        <p:spPr>
          <a:xfrm>
            <a:off x="10769600" y="4953000"/>
            <a:ext cx="63500" cy="330200"/>
          </a:xfrm>
          <a:prstGeom prst="rect">
            <a:avLst/>
          </a:prstGeom>
          <a:solidFill>
            <a:srgbClr val="7A6248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0" name="樹冠2"/>
          <p:cNvSpPr/>
          <p:nvPr/>
        </p:nvSpPr>
        <p:spPr>
          <a:xfrm>
            <a:off x="10579100" y="4470400"/>
            <a:ext cx="444500" cy="584200"/>
          </a:xfrm>
          <a:prstGeom prst="ellipse">
            <a:avLst/>
          </a:prstGeom>
          <a:solidFill>
            <a:srgbClr val="78A872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1" name="近丘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960" h="540">
                <a:moveTo>
                  <a:pt x="0" y="492"/>
                </a:moveTo>
                <a:cubicBezTo>
                  <a:pt x="200" y="456"/>
                  <a:pt x="420" y="492"/>
                  <a:pt x="620" y="486"/>
                </a:cubicBezTo>
                <a:cubicBezTo>
                  <a:pt x="780" y="482"/>
                  <a:pt x="880" y="462"/>
                  <a:pt x="960" y="472"/>
                </a:cubicBezTo>
                <a:lnTo>
                  <a:pt x="960" y="540"/>
                </a:lnTo>
                <a:lnTo>
                  <a:pt x="0" y="540"/>
                </a:lnTo>
                <a:close/>
              </a:path>
            </a:pathLst>
          </a:custGeom>
          <a:solidFill>
            <a:srgbClr val="7FAE79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7" name="感謝聆聽"/>
          <p:cNvSpPr txBox="1"/>
          <p:nvPr/>
        </p:nvSpPr>
        <p:spPr>
          <a:xfrm>
            <a:off x="812800" y="1905000"/>
            <a:ext cx="7112000" cy="1397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zh-TW" sz="8000" b="1" dirty="0">
                <a:solidFill>
                  <a:srgbClr val="2F4A35"/>
                </a:solidFill>
                <a:latin typeface="微軟正黑體"/>
                <a:ea typeface="微軟正黑體"/>
                <a:cs typeface="微軟正黑體"/>
              </a:rPr>
              <a:t>感謝聆聽</a:t>
            </a:r>
          </a:p>
        </p:txBody>
      </p:sp>
      <p:sp>
        <p:nvSpPr>
          <p:cNvPr id="32" name="分隔線"/>
          <p:cNvSpPr/>
          <p:nvPr/>
        </p:nvSpPr>
        <p:spPr>
          <a:xfrm>
            <a:off x="812800" y="3505200"/>
            <a:ext cx="914400" cy="50800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3" name="副標題"/>
          <p:cNvSpPr txBox="1"/>
          <p:nvPr/>
        </p:nvSpPr>
        <p:spPr>
          <a:xfrm>
            <a:off x="812800" y="3784600"/>
            <a:ext cx="7112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zh-TW" sz="2400" b="0" dirty="0">
                <a:solidFill>
                  <a:srgbClr val="4A5D4B"/>
                </a:solidFill>
                <a:latin typeface="微軟正黑體"/>
                <a:ea typeface="微軟正黑體"/>
                <a:cs typeface="微軟正黑體"/>
              </a:rPr>
              <a:t>旅途知音　歡迎提問與指教</a:t>
            </a:r>
          </a:p>
        </p:txBody>
      </p:sp>
    </p:spTree>
    <p:extLst>
      <p:ext uri="{BB962C8B-B14F-4D97-AF65-F5344CB8AC3E}">
        <p14:creationId xmlns:p14="http://schemas.microsoft.com/office/powerpoint/2010/main" val="1090058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59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7E1C1BF-EDEC-4BAD-9E68-433F9E5E314C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30c17352-3aff-4236-b676-8deb1cf2178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PresentationFormat>寬螢幕</PresentationFormat>
  <Paragraphs>49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微軟正黑體</vt:lpstr>
      <vt:lpstr>Aptos</vt:lpstr>
      <vt:lpstr>Aptos Display</vt:lpstr>
      <vt:lpstr>Arial</vt:lpstr>
      <vt:lpstr>Office 佈景主題</vt:lpstr>
      <vt:lpstr>旅途知音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家偉 徐</dc:creator>
  <cp:lastModifiedBy>家偉 徐</cp:lastModifiedBy>
  <cp:revision>1</cp:revision>
  <dcterms:created xsi:type="dcterms:W3CDTF">2026-10-19T07:33:48Z</dcterms:created>
  <dcterms:modified xsi:type="dcterms:W3CDTF">2026-10-19T02:10:29Z</dcterms:modified>
</cp:coreProperties>
</file>